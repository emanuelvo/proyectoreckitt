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8" r:id="rId22"/>
    <p:sldId id="276" r:id="rId23"/>
    <p:sldId id="277"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5" r:id="rId48"/>
    <p:sldId id="302" r:id="rId49"/>
    <p:sldId id="303" r:id="rId50"/>
    <p:sldId id="304"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AB7B35-2905-4742-940F-FA490C28AAE1}" type="datetimeFigureOut">
              <a:rPr lang="en-US" smtClean="0"/>
              <a:t>4/29/2026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F40C68-F489-49BC-9253-3D6CC2E0CEEF}" type="slidenum">
              <a:rPr lang="en-US" smtClean="0"/>
              <a:t>‹Nº›</a:t>
            </a:fld>
            <a:endParaRPr lang="en-US"/>
          </a:p>
        </p:txBody>
      </p:sp>
    </p:spTree>
    <p:extLst>
      <p:ext uri="{BB962C8B-B14F-4D97-AF65-F5344CB8AC3E}">
        <p14:creationId xmlns:p14="http://schemas.microsoft.com/office/powerpoint/2010/main" val="1872237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DFF40C68-F489-49BC-9253-3D6CC2E0CEEF}" type="slidenum">
              <a:rPr lang="en-US" smtClean="0"/>
              <a:t>7</a:t>
            </a:fld>
            <a:endParaRPr lang="en-US"/>
          </a:p>
        </p:txBody>
      </p:sp>
    </p:spTree>
    <p:extLst>
      <p:ext uri="{BB962C8B-B14F-4D97-AF65-F5344CB8AC3E}">
        <p14:creationId xmlns:p14="http://schemas.microsoft.com/office/powerpoint/2010/main" val="3451222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563B3E-8C2D-3FAE-970A-BF0F553D2F8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91C1D713-AD53-57F4-C2EE-984D2A9118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087DB9A7-DCB5-FBF8-4E29-444DA92B03DC}"/>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5" name="Marcador de pie de página 4">
            <a:extLst>
              <a:ext uri="{FF2B5EF4-FFF2-40B4-BE49-F238E27FC236}">
                <a16:creationId xmlns:a16="http://schemas.microsoft.com/office/drawing/2014/main" id="{020FDF71-5AF2-15D9-A6BD-D97BB28CDBC1}"/>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9F25804B-45BA-FDAA-DB85-C9513D6535C9}"/>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2390209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6D2752-EDCF-C46D-862E-A9A849F6FBB1}"/>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C8334E6B-5D0E-5D9D-0BF5-722790F9BD0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202A1627-D270-D4C0-23A5-3F5CC995FF1C}"/>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5" name="Marcador de pie de página 4">
            <a:extLst>
              <a:ext uri="{FF2B5EF4-FFF2-40B4-BE49-F238E27FC236}">
                <a16:creationId xmlns:a16="http://schemas.microsoft.com/office/drawing/2014/main" id="{9C0319D6-E588-715C-1799-8966B85F42E6}"/>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0FA29511-00B2-0F6D-A3FC-BFB531F3668A}"/>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1332683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FA140A-BCC7-9F5F-1762-0190F11F5E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0B3EC84-27F6-F324-45A4-CEEE341C28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48FB2A7-2B21-09DA-61D6-C2F06EE7ACF8}"/>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5" name="Marcador de pie de página 4">
            <a:extLst>
              <a:ext uri="{FF2B5EF4-FFF2-40B4-BE49-F238E27FC236}">
                <a16:creationId xmlns:a16="http://schemas.microsoft.com/office/drawing/2014/main" id="{2CBDC077-4355-FDDA-E24A-09E042BE3116}"/>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15DAF976-0B08-5FA9-734A-75960938849D}"/>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61927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2F321A-6469-E09D-9766-CF4B8FDD4675}"/>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CA9848FF-A987-49E0-73F3-08B645A8ED9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8103663D-B2B1-E9EE-B610-FDD79D243C0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2AEFD008-1C74-39F6-E530-993976DF5141}"/>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6" name="Marcador de pie de página 5">
            <a:extLst>
              <a:ext uri="{FF2B5EF4-FFF2-40B4-BE49-F238E27FC236}">
                <a16:creationId xmlns:a16="http://schemas.microsoft.com/office/drawing/2014/main" id="{9A4ACE36-B398-20F4-291F-A9041FEE2A23}"/>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AE8E039C-6A03-750A-C4AA-42314AAC7566}"/>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85180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C0EC28-6D21-9168-75C7-6E3A517315C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E101CEC0-C169-C390-F9C2-E726AFAD97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CDBCD44-D54E-85A7-6164-F3791CF6AAC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9ED445FB-82BE-68AB-FD84-1C3D030B4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6E1588D-C02B-5C3B-3667-239C6D1502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3B619CD8-C17D-2107-6D55-2942A4074FE1}"/>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8" name="Marcador de pie de página 7">
            <a:extLst>
              <a:ext uri="{FF2B5EF4-FFF2-40B4-BE49-F238E27FC236}">
                <a16:creationId xmlns:a16="http://schemas.microsoft.com/office/drawing/2014/main" id="{0E8AB460-346C-E364-4D99-442D04A3F4E4}"/>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9CF61C11-21F3-C00C-4C6B-C75B55F24BB4}"/>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1599047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0CD25-D3A3-77B9-C61C-2A20BEC5F9C4}"/>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57558220-D0CF-97E8-2E7D-EC68FA6D5A1D}"/>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4" name="Marcador de pie de página 3">
            <a:extLst>
              <a:ext uri="{FF2B5EF4-FFF2-40B4-BE49-F238E27FC236}">
                <a16:creationId xmlns:a16="http://schemas.microsoft.com/office/drawing/2014/main" id="{655289EF-4ECB-B206-6522-DE0ACD9D37BC}"/>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F3F32936-56BD-D7AA-1C44-2D1F7D5818E2}"/>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217200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C9215FB-FC1C-13FE-6D70-36777F8DCC35}"/>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3" name="Marcador de pie de página 2">
            <a:extLst>
              <a:ext uri="{FF2B5EF4-FFF2-40B4-BE49-F238E27FC236}">
                <a16:creationId xmlns:a16="http://schemas.microsoft.com/office/drawing/2014/main" id="{C6A0172C-973E-002F-9C55-0B2C0113FE3B}"/>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1D04CA81-94DB-4782-765F-B7D0AB7246CA}"/>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2938579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D57274-1B15-D9C5-BE23-87C0B20AE5E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4F3BD85D-C886-8CCD-A8D8-549AB84CCF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6EA2EC93-C638-41CD-A38A-9D4DD8B6A2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8432A94-AB9E-43D9-AED6-5CEBB1DB6EF5}"/>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6" name="Marcador de pie de página 5">
            <a:extLst>
              <a:ext uri="{FF2B5EF4-FFF2-40B4-BE49-F238E27FC236}">
                <a16:creationId xmlns:a16="http://schemas.microsoft.com/office/drawing/2014/main" id="{9FD73AFB-4423-5DF0-64C9-5D3220C6DD69}"/>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7A3B7930-7DE8-01AA-53FF-156D1490772D}"/>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3498311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F12995-02B4-386E-4DD3-CD160FB8F5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2647F79F-3118-E078-5E12-A3FCF9E076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CF815D7F-B949-AA41-46EA-D2B3D7F1BF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A01D30F-8BD9-3F6C-93F6-FDAD319567FA}"/>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6" name="Marcador de pie de página 5">
            <a:extLst>
              <a:ext uri="{FF2B5EF4-FFF2-40B4-BE49-F238E27FC236}">
                <a16:creationId xmlns:a16="http://schemas.microsoft.com/office/drawing/2014/main" id="{78BC7867-78AD-F385-3FC6-46C41F0C5E28}"/>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3042AB98-7A86-CBF3-1AFB-1245F3C67F32}"/>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956916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BB7A48-5E22-62CF-76CD-AB222EF8CBA9}"/>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EBD649CB-4AC9-F53E-7847-442E342D9FF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2B63EEB8-1633-A0CB-2537-119693303135}"/>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5" name="Marcador de pie de página 4">
            <a:extLst>
              <a:ext uri="{FF2B5EF4-FFF2-40B4-BE49-F238E27FC236}">
                <a16:creationId xmlns:a16="http://schemas.microsoft.com/office/drawing/2014/main" id="{4325D4AB-02D2-E080-5EDC-C653FF61423F}"/>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7543C2D-2A39-7ACA-C4BE-107379CE0BEE}"/>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1269437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D520284-2416-67AB-67D0-F0BD467EC65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0B70C221-F6E5-C907-F1FD-D3E5E21F581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95EE625F-A5FC-D207-53A1-0F44AFC046F9}"/>
              </a:ext>
            </a:extLst>
          </p:cNvPr>
          <p:cNvSpPr>
            <a:spLocks noGrp="1"/>
          </p:cNvSpPr>
          <p:nvPr>
            <p:ph type="dt" sz="half" idx="10"/>
          </p:nvPr>
        </p:nvSpPr>
        <p:spPr/>
        <p:txBody>
          <a:bodyPr/>
          <a:lstStyle/>
          <a:p>
            <a:fld id="{84397623-D5DB-45C4-8CCF-5C8628158A8D}" type="datetimeFigureOut">
              <a:rPr lang="en-US" smtClean="0"/>
              <a:t>4/29/2026</a:t>
            </a:fld>
            <a:endParaRPr lang="en-US"/>
          </a:p>
        </p:txBody>
      </p:sp>
      <p:sp>
        <p:nvSpPr>
          <p:cNvPr id="5" name="Marcador de pie de página 4">
            <a:extLst>
              <a:ext uri="{FF2B5EF4-FFF2-40B4-BE49-F238E27FC236}">
                <a16:creationId xmlns:a16="http://schemas.microsoft.com/office/drawing/2014/main" id="{8C262E3A-FBCD-16A6-B9EC-B353FA5AFDE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1BA5E9FA-ACD8-D9FC-8D5E-8A0A1D33A56F}"/>
              </a:ext>
            </a:extLst>
          </p:cNvPr>
          <p:cNvSpPr>
            <a:spLocks noGrp="1"/>
          </p:cNvSpPr>
          <p:nvPr>
            <p:ph type="sldNum" sz="quarter" idx="12"/>
          </p:nvPr>
        </p:nvSpPr>
        <p:spPr/>
        <p:txBody>
          <a:bodyPr/>
          <a:lstStyle/>
          <a:p>
            <a:fld id="{3A9DC361-685A-4070-8CCF-2A7DC7DD13F6}" type="slidenum">
              <a:rPr lang="en-US" smtClean="0"/>
              <a:t>‹Nº›</a:t>
            </a:fld>
            <a:endParaRPr lang="en-US"/>
          </a:p>
        </p:txBody>
      </p:sp>
    </p:spTree>
    <p:extLst>
      <p:ext uri="{BB962C8B-B14F-4D97-AF65-F5344CB8AC3E}">
        <p14:creationId xmlns:p14="http://schemas.microsoft.com/office/powerpoint/2010/main" val="2467770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0ECAAED-243D-6E70-F05F-625F609F21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D77C681A-AE88-6C2A-BBEC-524AED2D0D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0A2B8EA-2A86-F1F2-4C4B-C48F238782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97623-D5DB-45C4-8CCF-5C8628158A8D}" type="datetimeFigureOut">
              <a:rPr lang="en-US" smtClean="0"/>
              <a:t>4/29/2026</a:t>
            </a:fld>
            <a:endParaRPr lang="en-US"/>
          </a:p>
        </p:txBody>
      </p:sp>
      <p:sp>
        <p:nvSpPr>
          <p:cNvPr id="5" name="Marcador de pie de página 4">
            <a:extLst>
              <a:ext uri="{FF2B5EF4-FFF2-40B4-BE49-F238E27FC236}">
                <a16:creationId xmlns:a16="http://schemas.microsoft.com/office/drawing/2014/main" id="{588A00C6-1AFE-2452-11E2-5426FB6CDF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04F22578-6CE4-AC85-A62A-2A9EA5A6F4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9DC361-685A-4070-8CCF-2A7DC7DD13F6}" type="slidenum">
              <a:rPr lang="en-US" smtClean="0"/>
              <a:t>‹Nº›</a:t>
            </a:fld>
            <a:endParaRPr lang="en-US"/>
          </a:p>
        </p:txBody>
      </p:sp>
    </p:spTree>
    <p:extLst>
      <p:ext uri="{BB962C8B-B14F-4D97-AF65-F5344CB8AC3E}">
        <p14:creationId xmlns:p14="http://schemas.microsoft.com/office/powerpoint/2010/main" val="373046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3CA39D-4019-2700-4EA5-125073E86603}"/>
              </a:ext>
            </a:extLst>
          </p:cNvPr>
          <p:cNvSpPr>
            <a:spLocks noGrp="1"/>
          </p:cNvSpPr>
          <p:nvPr>
            <p:ph type="ctrTitle"/>
          </p:nvPr>
        </p:nvSpPr>
        <p:spPr/>
        <p:txBody>
          <a:bodyPr>
            <a:normAutofit/>
          </a:bodyPr>
          <a:lstStyle/>
          <a:p>
            <a:r>
              <a:rPr lang="es-419" b="1" noProof="0" dirty="0"/>
              <a:t>Proyecto de Empresa Aliada</a:t>
            </a:r>
            <a:br>
              <a:rPr lang="es-419" noProof="0" dirty="0"/>
            </a:br>
            <a:endParaRPr lang="es-419" noProof="0" dirty="0"/>
          </a:p>
        </p:txBody>
      </p:sp>
      <p:sp>
        <p:nvSpPr>
          <p:cNvPr id="3" name="Subtítulo 2">
            <a:extLst>
              <a:ext uri="{FF2B5EF4-FFF2-40B4-BE49-F238E27FC236}">
                <a16:creationId xmlns:a16="http://schemas.microsoft.com/office/drawing/2014/main" id="{C02CB103-75F5-42A0-7899-9814EDBB7E07}"/>
              </a:ext>
            </a:extLst>
          </p:cNvPr>
          <p:cNvSpPr>
            <a:spLocks noGrp="1"/>
          </p:cNvSpPr>
          <p:nvPr>
            <p:ph type="subTitle" idx="1"/>
          </p:nvPr>
        </p:nvSpPr>
        <p:spPr/>
        <p:txBody>
          <a:bodyPr>
            <a:normAutofit/>
          </a:bodyPr>
          <a:lstStyle/>
          <a:p>
            <a:r>
              <a:rPr lang="es-419" sz="3600" b="1" noProof="0" dirty="0"/>
              <a:t>Entrega Final</a:t>
            </a:r>
          </a:p>
        </p:txBody>
      </p:sp>
    </p:spTree>
    <p:extLst>
      <p:ext uri="{BB962C8B-B14F-4D97-AF65-F5344CB8AC3E}">
        <p14:creationId xmlns:p14="http://schemas.microsoft.com/office/powerpoint/2010/main" val="3701971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ED58D0-BDFE-47F9-5462-7ED5E453A127}"/>
              </a:ext>
            </a:extLst>
          </p:cNvPr>
          <p:cNvSpPr>
            <a:spLocks noGrp="1"/>
          </p:cNvSpPr>
          <p:nvPr>
            <p:ph type="title"/>
          </p:nvPr>
        </p:nvSpPr>
        <p:spPr/>
        <p:txBody>
          <a:bodyPr/>
          <a:lstStyle/>
          <a:p>
            <a:r>
              <a:rPr lang="es-419" b="1" noProof="0" dirty="0"/>
              <a:t>Introducción</a:t>
            </a:r>
          </a:p>
        </p:txBody>
      </p:sp>
      <p:sp>
        <p:nvSpPr>
          <p:cNvPr id="3" name="Marcador de contenido 2">
            <a:extLst>
              <a:ext uri="{FF2B5EF4-FFF2-40B4-BE49-F238E27FC236}">
                <a16:creationId xmlns:a16="http://schemas.microsoft.com/office/drawing/2014/main" id="{5AAD84A2-BE07-3E37-9C3F-ED76174F6FAF}"/>
              </a:ext>
            </a:extLst>
          </p:cNvPr>
          <p:cNvSpPr>
            <a:spLocks noGrp="1"/>
          </p:cNvSpPr>
          <p:nvPr>
            <p:ph idx="1"/>
          </p:nvPr>
        </p:nvSpPr>
        <p:spPr/>
        <p:txBody>
          <a:bodyPr>
            <a:normAutofit fontScale="92500" lnSpcReduction="10000"/>
          </a:bodyPr>
          <a:lstStyle/>
          <a:p>
            <a:pPr algn="just"/>
            <a:r>
              <a:rPr lang="es-419" b="1" noProof="0" dirty="0"/>
              <a:t>Contexto del Proyecto:</a:t>
            </a:r>
            <a:r>
              <a:rPr lang="es-ES" b="1" dirty="0"/>
              <a:t> </a:t>
            </a:r>
            <a:r>
              <a:rPr lang="es-ES" dirty="0"/>
              <a:t>desarrollar un proyecto en el cual se utilicen habilidades de la ciencia de datos para entregar un análisis predictivo y descriptivo que aumente la rentabilidad de la empresa objetivo.</a:t>
            </a:r>
          </a:p>
          <a:p>
            <a:pPr algn="just"/>
            <a:r>
              <a:rPr lang="es-419" b="1" noProof="0" dirty="0"/>
              <a:t>Relevancia del Análisis: </a:t>
            </a:r>
          </a:p>
          <a:p>
            <a:pPr algn="just">
              <a:buFontTx/>
              <a:buChar char="-"/>
            </a:pPr>
            <a:r>
              <a:rPr lang="es-419" noProof="0" dirty="0"/>
              <a:t>Revela tendencias y patrones en los datos</a:t>
            </a:r>
          </a:p>
          <a:p>
            <a:pPr algn="just">
              <a:buFontTx/>
              <a:buChar char="-"/>
            </a:pPr>
            <a:r>
              <a:rPr lang="es-419" dirty="0"/>
              <a:t>I</a:t>
            </a:r>
            <a:r>
              <a:rPr lang="es-419" noProof="0" dirty="0" err="1"/>
              <a:t>dentifica</a:t>
            </a:r>
            <a:r>
              <a:rPr lang="es-ES" noProof="0" dirty="0"/>
              <a:t> los principales productos que están ganando o perdiendo margen de mercado</a:t>
            </a:r>
          </a:p>
          <a:p>
            <a:pPr algn="just">
              <a:buFontTx/>
              <a:buChar char="-"/>
            </a:pPr>
            <a:r>
              <a:rPr lang="es-ES" dirty="0"/>
              <a:t>O</a:t>
            </a:r>
            <a:r>
              <a:rPr lang="es-ES" noProof="0" dirty="0" err="1"/>
              <a:t>btiene</a:t>
            </a:r>
            <a:r>
              <a:rPr lang="es-ES" noProof="0" dirty="0"/>
              <a:t> un pronóstico de ventas</a:t>
            </a:r>
          </a:p>
          <a:p>
            <a:pPr algn="just">
              <a:buFontTx/>
              <a:buChar char="-"/>
            </a:pPr>
            <a:r>
              <a:rPr lang="es-ES" dirty="0"/>
              <a:t>Incluye</a:t>
            </a:r>
            <a:r>
              <a:rPr lang="es-ES" noProof="0" dirty="0"/>
              <a:t> visualizaciones de los datos para entender mejor su distribución y las relaciones entre diferentes variables</a:t>
            </a:r>
          </a:p>
          <a:p>
            <a:pPr algn="just">
              <a:buFontTx/>
              <a:buChar char="-"/>
            </a:pPr>
            <a:r>
              <a:rPr lang="es-ES" noProof="0" dirty="0"/>
              <a:t>Resume los hallazgos clave y proporciona recomendaciones estratégicas</a:t>
            </a:r>
            <a:endParaRPr lang="es-419" noProof="0" dirty="0"/>
          </a:p>
        </p:txBody>
      </p:sp>
    </p:spTree>
    <p:extLst>
      <p:ext uri="{BB962C8B-B14F-4D97-AF65-F5344CB8AC3E}">
        <p14:creationId xmlns:p14="http://schemas.microsoft.com/office/powerpoint/2010/main" val="2984117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79F55-F58F-9CB3-F75E-6FB524FB0B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DE7410A-1B69-8529-CD68-0158F7B6D823}"/>
              </a:ext>
            </a:extLst>
          </p:cNvPr>
          <p:cNvSpPr>
            <a:spLocks noGrp="1"/>
          </p:cNvSpPr>
          <p:nvPr>
            <p:ph type="title"/>
          </p:nvPr>
        </p:nvSpPr>
        <p:spPr/>
        <p:txBody>
          <a:bodyPr/>
          <a:lstStyle/>
          <a:p>
            <a:r>
              <a:rPr lang="es-419" b="1" noProof="0" dirty="0"/>
              <a:t>Introducción</a:t>
            </a:r>
          </a:p>
        </p:txBody>
      </p:sp>
      <p:sp>
        <p:nvSpPr>
          <p:cNvPr id="3" name="Marcador de contenido 2">
            <a:extLst>
              <a:ext uri="{FF2B5EF4-FFF2-40B4-BE49-F238E27FC236}">
                <a16:creationId xmlns:a16="http://schemas.microsoft.com/office/drawing/2014/main" id="{1FCCC2E5-8CE4-5A20-CB43-8FAB2F7B8591}"/>
              </a:ext>
            </a:extLst>
          </p:cNvPr>
          <p:cNvSpPr>
            <a:spLocks noGrp="1"/>
          </p:cNvSpPr>
          <p:nvPr>
            <p:ph idx="1"/>
          </p:nvPr>
        </p:nvSpPr>
        <p:spPr/>
        <p:txBody>
          <a:bodyPr>
            <a:normAutofit/>
          </a:bodyPr>
          <a:lstStyle/>
          <a:p>
            <a:pPr algn="just"/>
            <a:r>
              <a:rPr lang="es-419" b="1" noProof="0" dirty="0"/>
              <a:t>Herramientas Utilizadas: </a:t>
            </a:r>
            <a:r>
              <a:rPr lang="es-419" noProof="0" dirty="0"/>
              <a:t>Python, Orange, SQL y </a:t>
            </a:r>
            <a:r>
              <a:rPr lang="es-419" noProof="0" dirty="0" err="1"/>
              <a:t>PowerBI</a:t>
            </a:r>
            <a:endParaRPr lang="es-419" noProof="0" dirty="0"/>
          </a:p>
        </p:txBody>
      </p:sp>
      <p:pic>
        <p:nvPicPr>
          <p:cNvPr id="5" name="Imagen 4">
            <a:extLst>
              <a:ext uri="{FF2B5EF4-FFF2-40B4-BE49-F238E27FC236}">
                <a16:creationId xmlns:a16="http://schemas.microsoft.com/office/drawing/2014/main" id="{CFA51E8E-71A0-F33B-5730-83A16EF28A5A}"/>
              </a:ext>
            </a:extLst>
          </p:cNvPr>
          <p:cNvPicPr>
            <a:picLocks noChangeAspect="1"/>
          </p:cNvPicPr>
          <p:nvPr/>
        </p:nvPicPr>
        <p:blipFill>
          <a:blip r:embed="rId2"/>
          <a:stretch>
            <a:fillRect/>
          </a:stretch>
        </p:blipFill>
        <p:spPr>
          <a:xfrm>
            <a:off x="6260592" y="3317574"/>
            <a:ext cx="2551400" cy="1225868"/>
          </a:xfrm>
          <a:prstGeom prst="rect">
            <a:avLst/>
          </a:prstGeom>
        </p:spPr>
      </p:pic>
      <p:pic>
        <p:nvPicPr>
          <p:cNvPr id="7" name="Imagen 6">
            <a:extLst>
              <a:ext uri="{FF2B5EF4-FFF2-40B4-BE49-F238E27FC236}">
                <a16:creationId xmlns:a16="http://schemas.microsoft.com/office/drawing/2014/main" id="{9F4BCB3A-EBA3-5490-94B3-BAAB10427550}"/>
              </a:ext>
            </a:extLst>
          </p:cNvPr>
          <p:cNvPicPr>
            <a:picLocks noChangeAspect="1"/>
          </p:cNvPicPr>
          <p:nvPr/>
        </p:nvPicPr>
        <p:blipFill>
          <a:blip r:embed="rId3"/>
          <a:stretch>
            <a:fillRect/>
          </a:stretch>
        </p:blipFill>
        <p:spPr>
          <a:xfrm>
            <a:off x="1106470" y="3169635"/>
            <a:ext cx="1521746" cy="1521746"/>
          </a:xfrm>
          <a:prstGeom prst="rect">
            <a:avLst/>
          </a:prstGeom>
        </p:spPr>
      </p:pic>
      <p:pic>
        <p:nvPicPr>
          <p:cNvPr id="9" name="Imagen 8">
            <a:extLst>
              <a:ext uri="{FF2B5EF4-FFF2-40B4-BE49-F238E27FC236}">
                <a16:creationId xmlns:a16="http://schemas.microsoft.com/office/drawing/2014/main" id="{70F9FF66-E81E-91FC-281D-4260D972DBFB}"/>
              </a:ext>
            </a:extLst>
          </p:cNvPr>
          <p:cNvPicPr>
            <a:picLocks noChangeAspect="1"/>
          </p:cNvPicPr>
          <p:nvPr/>
        </p:nvPicPr>
        <p:blipFill>
          <a:blip r:embed="rId4"/>
          <a:stretch>
            <a:fillRect/>
          </a:stretch>
        </p:blipFill>
        <p:spPr>
          <a:xfrm>
            <a:off x="3638319" y="3124423"/>
            <a:ext cx="1612170" cy="1612170"/>
          </a:xfrm>
          <a:prstGeom prst="rect">
            <a:avLst/>
          </a:prstGeom>
        </p:spPr>
      </p:pic>
      <p:pic>
        <p:nvPicPr>
          <p:cNvPr id="11" name="Imagen 10">
            <a:extLst>
              <a:ext uri="{FF2B5EF4-FFF2-40B4-BE49-F238E27FC236}">
                <a16:creationId xmlns:a16="http://schemas.microsoft.com/office/drawing/2014/main" id="{5A990332-69D4-B339-09F7-BBBDD3E4E326}"/>
              </a:ext>
            </a:extLst>
          </p:cNvPr>
          <p:cNvPicPr>
            <a:picLocks noChangeAspect="1"/>
          </p:cNvPicPr>
          <p:nvPr/>
        </p:nvPicPr>
        <p:blipFill>
          <a:blip r:embed="rId5"/>
          <a:srcRect l="21840" r="22774"/>
          <a:stretch>
            <a:fillRect/>
          </a:stretch>
        </p:blipFill>
        <p:spPr>
          <a:xfrm>
            <a:off x="9276811" y="3111834"/>
            <a:ext cx="1612170" cy="1637348"/>
          </a:xfrm>
          <a:prstGeom prst="rect">
            <a:avLst/>
          </a:prstGeom>
        </p:spPr>
      </p:pic>
    </p:spTree>
    <p:extLst>
      <p:ext uri="{BB962C8B-B14F-4D97-AF65-F5344CB8AC3E}">
        <p14:creationId xmlns:p14="http://schemas.microsoft.com/office/powerpoint/2010/main" val="1065445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1CEFC-214E-20EA-63C2-DAA16167CEAF}"/>
              </a:ext>
            </a:extLst>
          </p:cNvPr>
          <p:cNvSpPr>
            <a:spLocks noGrp="1"/>
          </p:cNvSpPr>
          <p:nvPr>
            <p:ph type="title"/>
          </p:nvPr>
        </p:nvSpPr>
        <p:spPr/>
        <p:txBody>
          <a:bodyPr/>
          <a:lstStyle/>
          <a:p>
            <a:r>
              <a:rPr lang="es-ES" b="1" dirty="0"/>
              <a:t>Limpieza y Transformación de Datos con Python</a:t>
            </a:r>
            <a:endParaRPr lang="en-US" b="1" dirty="0"/>
          </a:p>
        </p:txBody>
      </p:sp>
      <p:sp>
        <p:nvSpPr>
          <p:cNvPr id="3" name="Marcador de contenido 2">
            <a:extLst>
              <a:ext uri="{FF2B5EF4-FFF2-40B4-BE49-F238E27FC236}">
                <a16:creationId xmlns:a16="http://schemas.microsoft.com/office/drawing/2014/main" id="{484F92B3-4072-BAB9-77D9-92D1C9C17A9F}"/>
              </a:ext>
            </a:extLst>
          </p:cNvPr>
          <p:cNvSpPr>
            <a:spLocks noGrp="1"/>
          </p:cNvSpPr>
          <p:nvPr>
            <p:ph idx="1"/>
          </p:nvPr>
        </p:nvSpPr>
        <p:spPr/>
        <p:txBody>
          <a:bodyPr>
            <a:normAutofit/>
          </a:bodyPr>
          <a:lstStyle/>
          <a:p>
            <a:pPr algn="just"/>
            <a:r>
              <a:rPr lang="es-ES" b="1" dirty="0"/>
              <a:t>Carga y Limpieza de Datos: </a:t>
            </a:r>
            <a:r>
              <a:rPr lang="es-ES" dirty="0"/>
              <a:t>los datos fueron cargados en Pandas desde archivos CSV y Excel. Se realizó una limpieza exhaustiva para manejar valores nulos, eliminar duplicados y corregir inconsistencias en los datos.</a:t>
            </a:r>
          </a:p>
          <a:p>
            <a:pPr marL="0" indent="0">
              <a:buNone/>
            </a:pPr>
            <a:endParaRPr lang="es-ES" dirty="0"/>
          </a:p>
          <a:p>
            <a:pPr marL="0" indent="0">
              <a:buNone/>
            </a:pPr>
            <a:endParaRPr lang="es-ES" dirty="0"/>
          </a:p>
          <a:p>
            <a:pPr marL="0" indent="0">
              <a:buNone/>
            </a:pPr>
            <a:endParaRPr lang="es-ES" dirty="0"/>
          </a:p>
          <a:p>
            <a:pPr marL="0" indent="0">
              <a:buNone/>
            </a:pPr>
            <a:endParaRPr lang="es-ES" dirty="0"/>
          </a:p>
          <a:p>
            <a:pPr marL="0" indent="0">
              <a:buNone/>
            </a:pPr>
            <a:endParaRPr lang="en-US" b="1" dirty="0"/>
          </a:p>
        </p:txBody>
      </p:sp>
      <p:pic>
        <p:nvPicPr>
          <p:cNvPr id="5" name="Imagen 4">
            <a:extLst>
              <a:ext uri="{FF2B5EF4-FFF2-40B4-BE49-F238E27FC236}">
                <a16:creationId xmlns:a16="http://schemas.microsoft.com/office/drawing/2014/main" id="{C6165700-9A23-8397-431C-391496E8E964}"/>
              </a:ext>
            </a:extLst>
          </p:cNvPr>
          <p:cNvPicPr>
            <a:picLocks noChangeAspect="1"/>
          </p:cNvPicPr>
          <p:nvPr/>
        </p:nvPicPr>
        <p:blipFill>
          <a:blip r:embed="rId2"/>
          <a:stretch>
            <a:fillRect/>
          </a:stretch>
        </p:blipFill>
        <p:spPr>
          <a:xfrm>
            <a:off x="3647733" y="3766802"/>
            <a:ext cx="4896533" cy="2410161"/>
          </a:xfrm>
          <a:prstGeom prst="rect">
            <a:avLst/>
          </a:prstGeom>
        </p:spPr>
      </p:pic>
    </p:spTree>
    <p:extLst>
      <p:ext uri="{BB962C8B-B14F-4D97-AF65-F5344CB8AC3E}">
        <p14:creationId xmlns:p14="http://schemas.microsoft.com/office/powerpoint/2010/main" val="3847460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8008082-A0C2-A9B4-909E-40D0C2496512}"/>
              </a:ext>
            </a:extLst>
          </p:cNvPr>
          <p:cNvPicPr>
            <a:picLocks noChangeAspect="1"/>
          </p:cNvPicPr>
          <p:nvPr/>
        </p:nvPicPr>
        <p:blipFill>
          <a:blip r:embed="rId2"/>
          <a:stretch>
            <a:fillRect/>
          </a:stretch>
        </p:blipFill>
        <p:spPr>
          <a:xfrm>
            <a:off x="999413" y="342469"/>
            <a:ext cx="10193173" cy="6173061"/>
          </a:xfrm>
          <a:prstGeom prst="rect">
            <a:avLst/>
          </a:prstGeom>
        </p:spPr>
      </p:pic>
    </p:spTree>
    <p:extLst>
      <p:ext uri="{BB962C8B-B14F-4D97-AF65-F5344CB8AC3E}">
        <p14:creationId xmlns:p14="http://schemas.microsoft.com/office/powerpoint/2010/main" val="2498858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C7D5D93-94A3-F89B-3AFA-991308FFB95E}"/>
              </a:ext>
            </a:extLst>
          </p:cNvPr>
          <p:cNvPicPr>
            <a:picLocks noChangeAspect="1"/>
          </p:cNvPicPr>
          <p:nvPr/>
        </p:nvPicPr>
        <p:blipFill>
          <a:blip r:embed="rId2"/>
          <a:stretch>
            <a:fillRect/>
          </a:stretch>
        </p:blipFill>
        <p:spPr>
          <a:xfrm>
            <a:off x="1566230" y="384032"/>
            <a:ext cx="9059539" cy="2962688"/>
          </a:xfrm>
          <a:prstGeom prst="rect">
            <a:avLst/>
          </a:prstGeom>
        </p:spPr>
      </p:pic>
    </p:spTree>
    <p:extLst>
      <p:ext uri="{BB962C8B-B14F-4D97-AF65-F5344CB8AC3E}">
        <p14:creationId xmlns:p14="http://schemas.microsoft.com/office/powerpoint/2010/main" val="1730501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7789C8-8864-7A23-64F3-D081054CA2FE}"/>
              </a:ext>
            </a:extLst>
          </p:cNvPr>
          <p:cNvSpPr>
            <a:spLocks noGrp="1"/>
          </p:cNvSpPr>
          <p:nvPr>
            <p:ph type="title"/>
          </p:nvPr>
        </p:nvSpPr>
        <p:spPr/>
        <p:txBody>
          <a:bodyPr/>
          <a:lstStyle/>
          <a:p>
            <a:r>
              <a:rPr lang="es-ES" b="1" dirty="0"/>
              <a:t>Limpieza y Transformación de Datos con Python</a:t>
            </a:r>
            <a:endParaRPr lang="en-US" dirty="0"/>
          </a:p>
        </p:txBody>
      </p:sp>
      <p:sp>
        <p:nvSpPr>
          <p:cNvPr id="3" name="Marcador de contenido 2">
            <a:extLst>
              <a:ext uri="{FF2B5EF4-FFF2-40B4-BE49-F238E27FC236}">
                <a16:creationId xmlns:a16="http://schemas.microsoft.com/office/drawing/2014/main" id="{DA81EE8F-FE02-3ECC-AA6A-36D9A403F563}"/>
              </a:ext>
            </a:extLst>
          </p:cNvPr>
          <p:cNvSpPr>
            <a:spLocks noGrp="1"/>
          </p:cNvSpPr>
          <p:nvPr>
            <p:ph idx="1"/>
          </p:nvPr>
        </p:nvSpPr>
        <p:spPr/>
        <p:txBody>
          <a:bodyPr/>
          <a:lstStyle/>
          <a:p>
            <a:r>
              <a:rPr lang="en-US" b="1" dirty="0" err="1"/>
              <a:t>Transformaciones</a:t>
            </a:r>
            <a:r>
              <a:rPr lang="en-US" dirty="0"/>
              <a:t>:</a:t>
            </a:r>
            <a:endParaRPr lang="es-ES" dirty="0"/>
          </a:p>
          <a:p>
            <a:endParaRPr lang="en-US" dirty="0"/>
          </a:p>
        </p:txBody>
      </p:sp>
      <p:pic>
        <p:nvPicPr>
          <p:cNvPr id="5" name="Imagen 4">
            <a:extLst>
              <a:ext uri="{FF2B5EF4-FFF2-40B4-BE49-F238E27FC236}">
                <a16:creationId xmlns:a16="http://schemas.microsoft.com/office/drawing/2014/main" id="{95893941-EC16-750E-305E-D39B4E2E6476}"/>
              </a:ext>
            </a:extLst>
          </p:cNvPr>
          <p:cNvPicPr>
            <a:picLocks noChangeAspect="1"/>
          </p:cNvPicPr>
          <p:nvPr/>
        </p:nvPicPr>
        <p:blipFill>
          <a:blip r:embed="rId3"/>
          <a:stretch>
            <a:fillRect/>
          </a:stretch>
        </p:blipFill>
        <p:spPr>
          <a:xfrm>
            <a:off x="2809416" y="2781209"/>
            <a:ext cx="6573167" cy="1295581"/>
          </a:xfrm>
          <a:prstGeom prst="rect">
            <a:avLst/>
          </a:prstGeom>
        </p:spPr>
      </p:pic>
      <p:pic>
        <p:nvPicPr>
          <p:cNvPr id="7" name="Imagen 6">
            <a:extLst>
              <a:ext uri="{FF2B5EF4-FFF2-40B4-BE49-F238E27FC236}">
                <a16:creationId xmlns:a16="http://schemas.microsoft.com/office/drawing/2014/main" id="{37BE5332-3BD9-6727-C804-B46BF712D9AB}"/>
              </a:ext>
            </a:extLst>
          </p:cNvPr>
          <p:cNvPicPr>
            <a:picLocks noChangeAspect="1"/>
          </p:cNvPicPr>
          <p:nvPr/>
        </p:nvPicPr>
        <p:blipFill>
          <a:blip r:embed="rId4"/>
          <a:stretch>
            <a:fillRect/>
          </a:stretch>
        </p:blipFill>
        <p:spPr>
          <a:xfrm>
            <a:off x="3366705" y="4384468"/>
            <a:ext cx="5458587" cy="1143160"/>
          </a:xfrm>
          <a:prstGeom prst="rect">
            <a:avLst/>
          </a:prstGeom>
        </p:spPr>
      </p:pic>
    </p:spTree>
    <p:extLst>
      <p:ext uri="{BB962C8B-B14F-4D97-AF65-F5344CB8AC3E}">
        <p14:creationId xmlns:p14="http://schemas.microsoft.com/office/powerpoint/2010/main" val="27300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CFC467-72E8-A6F6-93A6-68F2A57755BF}"/>
              </a:ext>
            </a:extLst>
          </p:cNvPr>
          <p:cNvSpPr>
            <a:spLocks noGrp="1"/>
          </p:cNvSpPr>
          <p:nvPr>
            <p:ph type="title"/>
          </p:nvPr>
        </p:nvSpPr>
        <p:spPr/>
        <p:txBody>
          <a:bodyPr/>
          <a:lstStyle/>
          <a:p>
            <a:r>
              <a:rPr lang="es-ES" b="1" dirty="0"/>
              <a:t>Análisis Exploratorio de Datos (EDA) y Visualizaciones</a:t>
            </a:r>
            <a:endParaRPr lang="en-US" b="1" dirty="0"/>
          </a:p>
        </p:txBody>
      </p:sp>
      <p:sp>
        <p:nvSpPr>
          <p:cNvPr id="3" name="Marcador de contenido 2">
            <a:extLst>
              <a:ext uri="{FF2B5EF4-FFF2-40B4-BE49-F238E27FC236}">
                <a16:creationId xmlns:a16="http://schemas.microsoft.com/office/drawing/2014/main" id="{DFA86D17-0E5A-AEB9-111C-E1B1832519A1}"/>
              </a:ext>
            </a:extLst>
          </p:cNvPr>
          <p:cNvSpPr>
            <a:spLocks noGrp="1"/>
          </p:cNvSpPr>
          <p:nvPr>
            <p:ph idx="1"/>
          </p:nvPr>
        </p:nvSpPr>
        <p:spPr/>
        <p:txBody>
          <a:bodyPr/>
          <a:lstStyle/>
          <a:p>
            <a:pPr algn="just"/>
            <a:r>
              <a:rPr lang="es-ES" sz="2400" b="1" dirty="0"/>
              <a:t>Visualización de la Distribución de Ventas: </a:t>
            </a:r>
            <a:r>
              <a:rPr lang="es-ES" sz="2400" dirty="0"/>
              <a:t>se crearon histogramas y </a:t>
            </a:r>
            <a:r>
              <a:rPr lang="es-ES" sz="2400" dirty="0" err="1"/>
              <a:t>boxplots</a:t>
            </a:r>
            <a:r>
              <a:rPr lang="es-ES" sz="2400" dirty="0"/>
              <a:t> para visualizar la distribución de ventas por categoría de producto y región.</a:t>
            </a:r>
          </a:p>
          <a:p>
            <a:endParaRPr lang="en-US" dirty="0"/>
          </a:p>
        </p:txBody>
      </p:sp>
      <p:pic>
        <p:nvPicPr>
          <p:cNvPr id="5" name="Imagen 4">
            <a:extLst>
              <a:ext uri="{FF2B5EF4-FFF2-40B4-BE49-F238E27FC236}">
                <a16:creationId xmlns:a16="http://schemas.microsoft.com/office/drawing/2014/main" id="{00E1AE8B-FCFD-9E7C-FBE9-A095DB9451BD}"/>
              </a:ext>
            </a:extLst>
          </p:cNvPr>
          <p:cNvPicPr>
            <a:picLocks noChangeAspect="1"/>
          </p:cNvPicPr>
          <p:nvPr/>
        </p:nvPicPr>
        <p:blipFill>
          <a:blip r:embed="rId2"/>
          <a:stretch>
            <a:fillRect/>
          </a:stretch>
        </p:blipFill>
        <p:spPr>
          <a:xfrm>
            <a:off x="2501086" y="2670048"/>
            <a:ext cx="7189827" cy="3506915"/>
          </a:xfrm>
          <a:prstGeom prst="rect">
            <a:avLst/>
          </a:prstGeom>
        </p:spPr>
      </p:pic>
    </p:spTree>
    <p:extLst>
      <p:ext uri="{BB962C8B-B14F-4D97-AF65-F5344CB8AC3E}">
        <p14:creationId xmlns:p14="http://schemas.microsoft.com/office/powerpoint/2010/main" val="1649950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0DA60FC-8648-7D07-5C9C-52E2D759811C}"/>
              </a:ext>
            </a:extLst>
          </p:cNvPr>
          <p:cNvPicPr>
            <a:picLocks noChangeAspect="1"/>
          </p:cNvPicPr>
          <p:nvPr/>
        </p:nvPicPr>
        <p:blipFill>
          <a:blip r:embed="rId2"/>
          <a:stretch>
            <a:fillRect/>
          </a:stretch>
        </p:blipFill>
        <p:spPr>
          <a:xfrm>
            <a:off x="861282" y="1085523"/>
            <a:ext cx="10469436" cy="4686954"/>
          </a:xfrm>
          <a:prstGeom prst="rect">
            <a:avLst/>
          </a:prstGeom>
        </p:spPr>
      </p:pic>
    </p:spTree>
    <p:extLst>
      <p:ext uri="{BB962C8B-B14F-4D97-AF65-F5344CB8AC3E}">
        <p14:creationId xmlns:p14="http://schemas.microsoft.com/office/powerpoint/2010/main" val="2713499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6FC5A23-7369-E823-9D1A-CE0AD95B23D7}"/>
              </a:ext>
            </a:extLst>
          </p:cNvPr>
          <p:cNvPicPr>
            <a:picLocks noChangeAspect="1"/>
          </p:cNvPicPr>
          <p:nvPr/>
        </p:nvPicPr>
        <p:blipFill>
          <a:blip r:embed="rId2"/>
          <a:stretch>
            <a:fillRect/>
          </a:stretch>
        </p:blipFill>
        <p:spPr>
          <a:xfrm>
            <a:off x="851755" y="275785"/>
            <a:ext cx="10488489" cy="6306430"/>
          </a:xfrm>
          <a:prstGeom prst="rect">
            <a:avLst/>
          </a:prstGeom>
        </p:spPr>
      </p:pic>
    </p:spTree>
    <p:extLst>
      <p:ext uri="{BB962C8B-B14F-4D97-AF65-F5344CB8AC3E}">
        <p14:creationId xmlns:p14="http://schemas.microsoft.com/office/powerpoint/2010/main" val="307945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56DD1B-5D4E-019C-AD9B-A78C067500D3}"/>
              </a:ext>
            </a:extLst>
          </p:cNvPr>
          <p:cNvSpPr>
            <a:spLocks noGrp="1"/>
          </p:cNvSpPr>
          <p:nvPr>
            <p:ph type="title"/>
          </p:nvPr>
        </p:nvSpPr>
        <p:spPr/>
        <p:txBody>
          <a:bodyPr/>
          <a:lstStyle/>
          <a:p>
            <a:r>
              <a:rPr lang="es-ES" b="1" dirty="0"/>
              <a:t>Análisis Exploratorio de Datos (EDA) y Visualizaciones</a:t>
            </a:r>
            <a:endParaRPr lang="en-US" dirty="0"/>
          </a:p>
        </p:txBody>
      </p:sp>
      <p:sp>
        <p:nvSpPr>
          <p:cNvPr id="3" name="Marcador de contenido 2">
            <a:extLst>
              <a:ext uri="{FF2B5EF4-FFF2-40B4-BE49-F238E27FC236}">
                <a16:creationId xmlns:a16="http://schemas.microsoft.com/office/drawing/2014/main" id="{4C10EC4B-6A05-D41E-B785-DF43F814195D}"/>
              </a:ext>
            </a:extLst>
          </p:cNvPr>
          <p:cNvSpPr>
            <a:spLocks noGrp="1"/>
          </p:cNvSpPr>
          <p:nvPr>
            <p:ph idx="1"/>
          </p:nvPr>
        </p:nvSpPr>
        <p:spPr/>
        <p:txBody>
          <a:bodyPr/>
          <a:lstStyle/>
          <a:p>
            <a:pPr algn="just"/>
            <a:r>
              <a:rPr lang="en-US" sz="2400" b="1" dirty="0" err="1"/>
              <a:t>Análisis</a:t>
            </a:r>
            <a:r>
              <a:rPr lang="en-US" sz="2400" b="1" dirty="0"/>
              <a:t> de </a:t>
            </a:r>
            <a:r>
              <a:rPr lang="en-US" sz="2400" b="1" dirty="0" err="1"/>
              <a:t>Tendencias</a:t>
            </a:r>
            <a:r>
              <a:rPr lang="en-US" sz="2400" b="1" dirty="0"/>
              <a:t>: </a:t>
            </a:r>
            <a:r>
              <a:rPr lang="es-ES" sz="2400" dirty="0"/>
              <a:t>gráficos de líneas permitieron observar tendencias de ventas en el tiempo, filtrando por categorías clave.</a:t>
            </a:r>
          </a:p>
          <a:p>
            <a:endParaRPr lang="en-US" dirty="0"/>
          </a:p>
        </p:txBody>
      </p:sp>
      <p:pic>
        <p:nvPicPr>
          <p:cNvPr id="5" name="Imagen 4">
            <a:extLst>
              <a:ext uri="{FF2B5EF4-FFF2-40B4-BE49-F238E27FC236}">
                <a16:creationId xmlns:a16="http://schemas.microsoft.com/office/drawing/2014/main" id="{A99FDECE-3337-0742-CE2A-D5D96A7C5F27}"/>
              </a:ext>
            </a:extLst>
          </p:cNvPr>
          <p:cNvPicPr>
            <a:picLocks noChangeAspect="1"/>
          </p:cNvPicPr>
          <p:nvPr/>
        </p:nvPicPr>
        <p:blipFill>
          <a:blip r:embed="rId2"/>
          <a:stretch>
            <a:fillRect/>
          </a:stretch>
        </p:blipFill>
        <p:spPr>
          <a:xfrm>
            <a:off x="2965381" y="2615184"/>
            <a:ext cx="6261238" cy="4053099"/>
          </a:xfrm>
          <a:prstGeom prst="rect">
            <a:avLst/>
          </a:prstGeom>
        </p:spPr>
      </p:pic>
    </p:spTree>
    <p:extLst>
      <p:ext uri="{BB962C8B-B14F-4D97-AF65-F5344CB8AC3E}">
        <p14:creationId xmlns:p14="http://schemas.microsoft.com/office/powerpoint/2010/main" val="1013283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DFD9E45-774D-0707-8DE2-607B26D66AA1}"/>
              </a:ext>
            </a:extLst>
          </p:cNvPr>
          <p:cNvPicPr>
            <a:picLocks noChangeAspect="1"/>
          </p:cNvPicPr>
          <p:nvPr/>
        </p:nvPicPr>
        <p:blipFill>
          <a:blip r:embed="rId2"/>
          <a:stretch>
            <a:fillRect/>
          </a:stretch>
        </p:blipFill>
        <p:spPr>
          <a:xfrm>
            <a:off x="2418837" y="1271286"/>
            <a:ext cx="7354326" cy="4315427"/>
          </a:xfrm>
          <a:prstGeom prst="rect">
            <a:avLst/>
          </a:prstGeom>
        </p:spPr>
      </p:pic>
    </p:spTree>
    <p:extLst>
      <p:ext uri="{BB962C8B-B14F-4D97-AF65-F5344CB8AC3E}">
        <p14:creationId xmlns:p14="http://schemas.microsoft.com/office/powerpoint/2010/main" val="1115216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7A41F77-F28D-FE44-CF2A-D695A8587B5A}"/>
              </a:ext>
            </a:extLst>
          </p:cNvPr>
          <p:cNvPicPr>
            <a:picLocks noChangeAspect="1"/>
          </p:cNvPicPr>
          <p:nvPr/>
        </p:nvPicPr>
        <p:blipFill>
          <a:blip r:embed="rId2"/>
          <a:stretch>
            <a:fillRect/>
          </a:stretch>
        </p:blipFill>
        <p:spPr>
          <a:xfrm>
            <a:off x="1842494" y="794970"/>
            <a:ext cx="8507012" cy="5268060"/>
          </a:xfrm>
          <a:prstGeom prst="rect">
            <a:avLst/>
          </a:prstGeom>
        </p:spPr>
      </p:pic>
    </p:spTree>
    <p:extLst>
      <p:ext uri="{BB962C8B-B14F-4D97-AF65-F5344CB8AC3E}">
        <p14:creationId xmlns:p14="http://schemas.microsoft.com/office/powerpoint/2010/main" val="3337800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85A8849-E0DD-3AD9-701D-391F0C8E2E7D}"/>
              </a:ext>
            </a:extLst>
          </p:cNvPr>
          <p:cNvPicPr>
            <a:picLocks noChangeAspect="1"/>
          </p:cNvPicPr>
          <p:nvPr/>
        </p:nvPicPr>
        <p:blipFill>
          <a:blip r:embed="rId2"/>
          <a:stretch>
            <a:fillRect/>
          </a:stretch>
        </p:blipFill>
        <p:spPr>
          <a:xfrm>
            <a:off x="1756757" y="1276049"/>
            <a:ext cx="8678486" cy="4305901"/>
          </a:xfrm>
          <a:prstGeom prst="rect">
            <a:avLst/>
          </a:prstGeom>
        </p:spPr>
      </p:pic>
    </p:spTree>
    <p:extLst>
      <p:ext uri="{BB962C8B-B14F-4D97-AF65-F5344CB8AC3E}">
        <p14:creationId xmlns:p14="http://schemas.microsoft.com/office/powerpoint/2010/main" val="316776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2ED518-5DE0-E751-FCEF-E8801E39DD82}"/>
              </a:ext>
            </a:extLst>
          </p:cNvPr>
          <p:cNvSpPr>
            <a:spLocks noGrp="1"/>
          </p:cNvSpPr>
          <p:nvPr>
            <p:ph type="title"/>
          </p:nvPr>
        </p:nvSpPr>
        <p:spPr/>
        <p:txBody>
          <a:bodyPr/>
          <a:lstStyle/>
          <a:p>
            <a:r>
              <a:rPr lang="es-ES" dirty="0"/>
              <a:t>Análisis Exploratorio de Datos (EDA) y Visualizaciones</a:t>
            </a:r>
            <a:endParaRPr lang="en-US" dirty="0"/>
          </a:p>
        </p:txBody>
      </p:sp>
      <p:sp>
        <p:nvSpPr>
          <p:cNvPr id="3" name="Marcador de contenido 2">
            <a:extLst>
              <a:ext uri="{FF2B5EF4-FFF2-40B4-BE49-F238E27FC236}">
                <a16:creationId xmlns:a16="http://schemas.microsoft.com/office/drawing/2014/main" id="{14B643DF-A91A-0C42-42A4-5668CB92C0EF}"/>
              </a:ext>
            </a:extLst>
          </p:cNvPr>
          <p:cNvSpPr>
            <a:spLocks noGrp="1"/>
          </p:cNvSpPr>
          <p:nvPr>
            <p:ph idx="1"/>
          </p:nvPr>
        </p:nvSpPr>
        <p:spPr/>
        <p:txBody>
          <a:bodyPr/>
          <a:lstStyle/>
          <a:p>
            <a:pPr algn="just"/>
            <a:r>
              <a:rPr lang="en-US" b="1" dirty="0" err="1"/>
              <a:t>Identificación</a:t>
            </a:r>
            <a:r>
              <a:rPr lang="en-US" b="1" dirty="0"/>
              <a:t> de Outliers</a:t>
            </a:r>
            <a:r>
              <a:rPr lang="es-ES" b="1" dirty="0"/>
              <a:t>: </a:t>
            </a:r>
            <a:r>
              <a:rPr lang="es-ES" dirty="0"/>
              <a:t>se usaron gráficos de dispersión y de caja para identificar posibles valores atípicos que puedan requerir un análisis más detallado.</a:t>
            </a:r>
            <a:endParaRPr lang="en-US" dirty="0"/>
          </a:p>
        </p:txBody>
      </p:sp>
    </p:spTree>
    <p:extLst>
      <p:ext uri="{BB962C8B-B14F-4D97-AF65-F5344CB8AC3E}">
        <p14:creationId xmlns:p14="http://schemas.microsoft.com/office/powerpoint/2010/main" val="2110517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9A97BCD-BEBA-9AA0-C6FE-1F9D32209EBF}"/>
              </a:ext>
            </a:extLst>
          </p:cNvPr>
          <p:cNvPicPr>
            <a:picLocks noChangeAspect="1"/>
          </p:cNvPicPr>
          <p:nvPr/>
        </p:nvPicPr>
        <p:blipFill>
          <a:blip r:embed="rId2"/>
          <a:stretch>
            <a:fillRect/>
          </a:stretch>
        </p:blipFill>
        <p:spPr>
          <a:xfrm>
            <a:off x="1975862" y="652075"/>
            <a:ext cx="8240275" cy="5553850"/>
          </a:xfrm>
          <a:prstGeom prst="rect">
            <a:avLst/>
          </a:prstGeom>
        </p:spPr>
      </p:pic>
    </p:spTree>
    <p:extLst>
      <p:ext uri="{BB962C8B-B14F-4D97-AF65-F5344CB8AC3E}">
        <p14:creationId xmlns:p14="http://schemas.microsoft.com/office/powerpoint/2010/main" val="3288443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01BD74D-6288-F846-4D39-1F788DA8F1F3}"/>
              </a:ext>
            </a:extLst>
          </p:cNvPr>
          <p:cNvPicPr>
            <a:picLocks noChangeAspect="1"/>
          </p:cNvPicPr>
          <p:nvPr/>
        </p:nvPicPr>
        <p:blipFill>
          <a:blip r:embed="rId2"/>
          <a:stretch>
            <a:fillRect/>
          </a:stretch>
        </p:blipFill>
        <p:spPr>
          <a:xfrm>
            <a:off x="0" y="1912071"/>
            <a:ext cx="3941562" cy="2985612"/>
          </a:xfrm>
          <a:prstGeom prst="rect">
            <a:avLst/>
          </a:prstGeom>
        </p:spPr>
      </p:pic>
      <p:pic>
        <p:nvPicPr>
          <p:cNvPr id="5" name="Imagen 4">
            <a:extLst>
              <a:ext uri="{FF2B5EF4-FFF2-40B4-BE49-F238E27FC236}">
                <a16:creationId xmlns:a16="http://schemas.microsoft.com/office/drawing/2014/main" id="{D513A4C2-64F3-8A73-06F9-537F62C5E2C8}"/>
              </a:ext>
            </a:extLst>
          </p:cNvPr>
          <p:cNvPicPr>
            <a:picLocks noChangeAspect="1"/>
          </p:cNvPicPr>
          <p:nvPr/>
        </p:nvPicPr>
        <p:blipFill>
          <a:blip r:embed="rId3"/>
          <a:stretch>
            <a:fillRect/>
          </a:stretch>
        </p:blipFill>
        <p:spPr>
          <a:xfrm>
            <a:off x="4100033" y="1912071"/>
            <a:ext cx="3991934" cy="3009735"/>
          </a:xfrm>
          <a:prstGeom prst="rect">
            <a:avLst/>
          </a:prstGeom>
        </p:spPr>
      </p:pic>
      <p:pic>
        <p:nvPicPr>
          <p:cNvPr id="7" name="Imagen 6">
            <a:extLst>
              <a:ext uri="{FF2B5EF4-FFF2-40B4-BE49-F238E27FC236}">
                <a16:creationId xmlns:a16="http://schemas.microsoft.com/office/drawing/2014/main" id="{48878B74-AC3F-405C-B6B3-737E690E730B}"/>
              </a:ext>
            </a:extLst>
          </p:cNvPr>
          <p:cNvPicPr>
            <a:picLocks noChangeAspect="1"/>
          </p:cNvPicPr>
          <p:nvPr/>
        </p:nvPicPr>
        <p:blipFill>
          <a:blip r:embed="rId4"/>
          <a:stretch>
            <a:fillRect/>
          </a:stretch>
        </p:blipFill>
        <p:spPr>
          <a:xfrm>
            <a:off x="8250438" y="1912070"/>
            <a:ext cx="3941562" cy="2990869"/>
          </a:xfrm>
          <a:prstGeom prst="rect">
            <a:avLst/>
          </a:prstGeom>
        </p:spPr>
      </p:pic>
    </p:spTree>
    <p:extLst>
      <p:ext uri="{BB962C8B-B14F-4D97-AF65-F5344CB8AC3E}">
        <p14:creationId xmlns:p14="http://schemas.microsoft.com/office/powerpoint/2010/main" val="1518530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B94C98-7EB5-DE03-1C35-C7FD4B332E9E}"/>
              </a:ext>
            </a:extLst>
          </p:cNvPr>
          <p:cNvSpPr>
            <a:spLocks noGrp="1"/>
          </p:cNvSpPr>
          <p:nvPr>
            <p:ph type="title"/>
          </p:nvPr>
        </p:nvSpPr>
        <p:spPr/>
        <p:txBody>
          <a:bodyPr/>
          <a:lstStyle/>
          <a:p>
            <a:r>
              <a:rPr lang="es-ES" b="1" dirty="0"/>
              <a:t>Segmentación de Productos o Regiones con </a:t>
            </a:r>
            <a:r>
              <a:rPr lang="es-ES" b="1" dirty="0" err="1"/>
              <a:t>Clustering</a:t>
            </a:r>
            <a:endParaRPr lang="en-US" b="1" dirty="0"/>
          </a:p>
        </p:txBody>
      </p:sp>
      <p:sp>
        <p:nvSpPr>
          <p:cNvPr id="3" name="Marcador de contenido 2">
            <a:extLst>
              <a:ext uri="{FF2B5EF4-FFF2-40B4-BE49-F238E27FC236}">
                <a16:creationId xmlns:a16="http://schemas.microsoft.com/office/drawing/2014/main" id="{23423794-4D4E-F70F-EE1A-DB4831C11F77}"/>
              </a:ext>
            </a:extLst>
          </p:cNvPr>
          <p:cNvSpPr>
            <a:spLocks noGrp="1"/>
          </p:cNvSpPr>
          <p:nvPr>
            <p:ph idx="1"/>
          </p:nvPr>
        </p:nvSpPr>
        <p:spPr/>
        <p:txBody>
          <a:bodyPr/>
          <a:lstStyle/>
          <a:p>
            <a:pPr algn="just"/>
            <a:r>
              <a:rPr lang="es-ES" sz="2000" b="1" dirty="0"/>
              <a:t>Aplicación de </a:t>
            </a:r>
            <a:r>
              <a:rPr lang="es-ES" sz="2000" b="1" dirty="0" err="1"/>
              <a:t>Clustering</a:t>
            </a:r>
            <a:r>
              <a:rPr lang="es-ES" sz="2000" b="1" dirty="0"/>
              <a:t> con K-Means: </a:t>
            </a:r>
            <a:r>
              <a:rPr lang="es-ES" sz="2000" dirty="0"/>
              <a:t>se aplicó el algoritmo K-Means para segmentar los productos o regiones en función de características clave como ventas totales, categorías y regiones.</a:t>
            </a:r>
          </a:p>
          <a:p>
            <a:pPr algn="just"/>
            <a:endParaRPr lang="es-ES" dirty="0"/>
          </a:p>
          <a:p>
            <a:pPr algn="just"/>
            <a:endParaRPr lang="es-ES" dirty="0"/>
          </a:p>
          <a:p>
            <a:pPr algn="just"/>
            <a:endParaRPr lang="es-ES" dirty="0"/>
          </a:p>
          <a:p>
            <a:pPr marL="0" indent="0" algn="just">
              <a:buNone/>
            </a:pPr>
            <a:endParaRPr lang="es-ES" dirty="0"/>
          </a:p>
        </p:txBody>
      </p:sp>
      <p:pic>
        <p:nvPicPr>
          <p:cNvPr id="5" name="Imagen 4">
            <a:extLst>
              <a:ext uri="{FF2B5EF4-FFF2-40B4-BE49-F238E27FC236}">
                <a16:creationId xmlns:a16="http://schemas.microsoft.com/office/drawing/2014/main" id="{CF625C54-9737-7DBE-6C0B-72DA01330CB2}"/>
              </a:ext>
            </a:extLst>
          </p:cNvPr>
          <p:cNvPicPr>
            <a:picLocks noChangeAspect="1"/>
          </p:cNvPicPr>
          <p:nvPr/>
        </p:nvPicPr>
        <p:blipFill>
          <a:blip r:embed="rId2"/>
          <a:stretch>
            <a:fillRect/>
          </a:stretch>
        </p:blipFill>
        <p:spPr>
          <a:xfrm>
            <a:off x="4061639" y="2714624"/>
            <a:ext cx="4068722" cy="4017301"/>
          </a:xfrm>
          <a:prstGeom prst="rect">
            <a:avLst/>
          </a:prstGeom>
        </p:spPr>
      </p:pic>
    </p:spTree>
    <p:extLst>
      <p:ext uri="{BB962C8B-B14F-4D97-AF65-F5344CB8AC3E}">
        <p14:creationId xmlns:p14="http://schemas.microsoft.com/office/powerpoint/2010/main" val="3933643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91919E-55A8-5135-023E-C77C34CFF5F7}"/>
              </a:ext>
            </a:extLst>
          </p:cNvPr>
          <p:cNvSpPr>
            <a:spLocks noGrp="1"/>
          </p:cNvSpPr>
          <p:nvPr>
            <p:ph type="title"/>
          </p:nvPr>
        </p:nvSpPr>
        <p:spPr/>
        <p:txBody>
          <a:bodyPr/>
          <a:lstStyle/>
          <a:p>
            <a:r>
              <a:rPr lang="es-ES" b="1" dirty="0"/>
              <a:t>Segmentación de Productos o Regiones con </a:t>
            </a:r>
            <a:r>
              <a:rPr lang="es-ES" b="1" dirty="0" err="1"/>
              <a:t>Clustering</a:t>
            </a:r>
            <a:endParaRPr lang="en-US" dirty="0"/>
          </a:p>
        </p:txBody>
      </p:sp>
      <p:sp>
        <p:nvSpPr>
          <p:cNvPr id="3" name="Marcador de contenido 2">
            <a:extLst>
              <a:ext uri="{FF2B5EF4-FFF2-40B4-BE49-F238E27FC236}">
                <a16:creationId xmlns:a16="http://schemas.microsoft.com/office/drawing/2014/main" id="{C3494181-B0FA-A44B-9B7E-70F03406D27B}"/>
              </a:ext>
            </a:extLst>
          </p:cNvPr>
          <p:cNvSpPr>
            <a:spLocks noGrp="1"/>
          </p:cNvSpPr>
          <p:nvPr>
            <p:ph idx="1"/>
          </p:nvPr>
        </p:nvSpPr>
        <p:spPr/>
        <p:txBody>
          <a:bodyPr/>
          <a:lstStyle/>
          <a:p>
            <a:pPr algn="just"/>
            <a:r>
              <a:rPr lang="es-ES" sz="2000" b="1" dirty="0"/>
              <a:t>Número Óptimo de </a:t>
            </a:r>
            <a:r>
              <a:rPr lang="es-ES" sz="2000" b="1" dirty="0" err="1"/>
              <a:t>Clusters</a:t>
            </a:r>
            <a:r>
              <a:rPr lang="es-ES" sz="2000" b="1" dirty="0"/>
              <a:t>:</a:t>
            </a:r>
            <a:r>
              <a:rPr lang="es-ES" sz="2000" dirty="0"/>
              <a:t> se utilizó el método del codo para determinar el número óptimo de </a:t>
            </a:r>
            <a:r>
              <a:rPr lang="es-ES" sz="2000" dirty="0" err="1"/>
              <a:t>clusters</a:t>
            </a:r>
            <a:r>
              <a:rPr lang="es-ES" sz="2000" dirty="0"/>
              <a:t>, logrando identificar patrones de rendimiento.</a:t>
            </a:r>
          </a:p>
          <a:p>
            <a:endParaRPr lang="en-US" dirty="0"/>
          </a:p>
        </p:txBody>
      </p:sp>
      <p:pic>
        <p:nvPicPr>
          <p:cNvPr id="5" name="Imagen 4">
            <a:extLst>
              <a:ext uri="{FF2B5EF4-FFF2-40B4-BE49-F238E27FC236}">
                <a16:creationId xmlns:a16="http://schemas.microsoft.com/office/drawing/2014/main" id="{BD51F623-DE3C-1CF2-0B4B-E72D27A59FEF}"/>
              </a:ext>
            </a:extLst>
          </p:cNvPr>
          <p:cNvPicPr>
            <a:picLocks noChangeAspect="1"/>
          </p:cNvPicPr>
          <p:nvPr/>
        </p:nvPicPr>
        <p:blipFill>
          <a:blip r:embed="rId2"/>
          <a:stretch>
            <a:fillRect/>
          </a:stretch>
        </p:blipFill>
        <p:spPr>
          <a:xfrm>
            <a:off x="3825204" y="2518836"/>
            <a:ext cx="4245058" cy="4272489"/>
          </a:xfrm>
          <a:prstGeom prst="rect">
            <a:avLst/>
          </a:prstGeom>
        </p:spPr>
      </p:pic>
    </p:spTree>
    <p:extLst>
      <p:ext uri="{BB962C8B-B14F-4D97-AF65-F5344CB8AC3E}">
        <p14:creationId xmlns:p14="http://schemas.microsoft.com/office/powerpoint/2010/main" val="2130654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8C8A4F-B956-DAF1-BE1D-444C32AD1B33}"/>
              </a:ext>
            </a:extLst>
          </p:cNvPr>
          <p:cNvSpPr>
            <a:spLocks noGrp="1"/>
          </p:cNvSpPr>
          <p:nvPr>
            <p:ph type="title"/>
          </p:nvPr>
        </p:nvSpPr>
        <p:spPr/>
        <p:txBody>
          <a:bodyPr/>
          <a:lstStyle/>
          <a:p>
            <a:r>
              <a:rPr lang="es-ES" b="1" dirty="0"/>
              <a:t>Segmentación de Productos o Regiones con </a:t>
            </a:r>
            <a:r>
              <a:rPr lang="es-ES" b="1" dirty="0" err="1"/>
              <a:t>Clustering</a:t>
            </a:r>
            <a:endParaRPr lang="en-US" dirty="0"/>
          </a:p>
        </p:txBody>
      </p:sp>
      <p:sp>
        <p:nvSpPr>
          <p:cNvPr id="3" name="Marcador de contenido 2">
            <a:extLst>
              <a:ext uri="{FF2B5EF4-FFF2-40B4-BE49-F238E27FC236}">
                <a16:creationId xmlns:a16="http://schemas.microsoft.com/office/drawing/2014/main" id="{318BD0F0-872B-F165-4D8C-3C56D451E639}"/>
              </a:ext>
            </a:extLst>
          </p:cNvPr>
          <p:cNvSpPr>
            <a:spLocks noGrp="1"/>
          </p:cNvSpPr>
          <p:nvPr>
            <p:ph idx="1"/>
          </p:nvPr>
        </p:nvSpPr>
        <p:spPr/>
        <p:txBody>
          <a:bodyPr/>
          <a:lstStyle/>
          <a:p>
            <a:pPr algn="just"/>
            <a:r>
              <a:rPr lang="es-ES" b="1" dirty="0"/>
              <a:t>Interpretación de los </a:t>
            </a:r>
            <a:r>
              <a:rPr lang="es-ES" b="1" dirty="0" err="1"/>
              <a:t>Clusters</a:t>
            </a:r>
            <a:r>
              <a:rPr lang="es-ES" b="1" dirty="0"/>
              <a:t>:</a:t>
            </a:r>
            <a:r>
              <a:rPr lang="es-ES" dirty="0"/>
              <a:t> se analizó cada </a:t>
            </a:r>
            <a:r>
              <a:rPr lang="es-ES" dirty="0" err="1"/>
              <a:t>cluster</a:t>
            </a:r>
            <a:r>
              <a:rPr lang="es-ES" dirty="0"/>
              <a:t> para identificar áreas de alto rendimiento y segmentos con oportunidades de mejora.</a:t>
            </a:r>
          </a:p>
          <a:p>
            <a:endParaRPr lang="en-US" dirty="0"/>
          </a:p>
        </p:txBody>
      </p:sp>
      <p:pic>
        <p:nvPicPr>
          <p:cNvPr id="5" name="Imagen 4">
            <a:extLst>
              <a:ext uri="{FF2B5EF4-FFF2-40B4-BE49-F238E27FC236}">
                <a16:creationId xmlns:a16="http://schemas.microsoft.com/office/drawing/2014/main" id="{2142ECF0-6226-EBA4-738B-9850F58389F5}"/>
              </a:ext>
            </a:extLst>
          </p:cNvPr>
          <p:cNvPicPr>
            <a:picLocks noChangeAspect="1"/>
          </p:cNvPicPr>
          <p:nvPr/>
        </p:nvPicPr>
        <p:blipFill>
          <a:blip r:embed="rId2"/>
          <a:stretch>
            <a:fillRect/>
          </a:stretch>
        </p:blipFill>
        <p:spPr>
          <a:xfrm>
            <a:off x="2993137" y="3040079"/>
            <a:ext cx="6205726" cy="1227989"/>
          </a:xfrm>
          <a:prstGeom prst="rect">
            <a:avLst/>
          </a:prstGeom>
        </p:spPr>
      </p:pic>
    </p:spTree>
    <p:extLst>
      <p:ext uri="{BB962C8B-B14F-4D97-AF65-F5344CB8AC3E}">
        <p14:creationId xmlns:p14="http://schemas.microsoft.com/office/powerpoint/2010/main" val="2270742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7140F544-46FE-C0B3-3E1F-BC3467AA3BE7}"/>
              </a:ext>
            </a:extLst>
          </p:cNvPr>
          <p:cNvPicPr>
            <a:picLocks noChangeAspect="1"/>
          </p:cNvPicPr>
          <p:nvPr/>
        </p:nvPicPr>
        <p:blipFill>
          <a:blip r:embed="rId2"/>
          <a:stretch>
            <a:fillRect/>
          </a:stretch>
        </p:blipFill>
        <p:spPr>
          <a:xfrm>
            <a:off x="3161213" y="352530"/>
            <a:ext cx="5869573" cy="4433711"/>
          </a:xfrm>
          <a:prstGeom prst="rect">
            <a:avLst/>
          </a:prstGeom>
        </p:spPr>
      </p:pic>
      <p:pic>
        <p:nvPicPr>
          <p:cNvPr id="5" name="Imagen 4">
            <a:extLst>
              <a:ext uri="{FF2B5EF4-FFF2-40B4-BE49-F238E27FC236}">
                <a16:creationId xmlns:a16="http://schemas.microsoft.com/office/drawing/2014/main" id="{7AFD3758-FDAF-7F4C-9F83-FA86F27A7ACB}"/>
              </a:ext>
            </a:extLst>
          </p:cNvPr>
          <p:cNvPicPr>
            <a:picLocks noChangeAspect="1"/>
          </p:cNvPicPr>
          <p:nvPr/>
        </p:nvPicPr>
        <p:blipFill>
          <a:blip r:embed="rId3"/>
          <a:stretch>
            <a:fillRect/>
          </a:stretch>
        </p:blipFill>
        <p:spPr>
          <a:xfrm>
            <a:off x="1442387" y="5076758"/>
            <a:ext cx="9307224" cy="952633"/>
          </a:xfrm>
          <a:prstGeom prst="rect">
            <a:avLst/>
          </a:prstGeom>
        </p:spPr>
      </p:pic>
    </p:spTree>
    <p:extLst>
      <p:ext uri="{BB962C8B-B14F-4D97-AF65-F5344CB8AC3E}">
        <p14:creationId xmlns:p14="http://schemas.microsoft.com/office/powerpoint/2010/main" val="884292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E92C07-64A4-1917-8C3F-0D39C2EAC1EE}"/>
              </a:ext>
            </a:extLst>
          </p:cNvPr>
          <p:cNvSpPr>
            <a:spLocks noGrp="1"/>
          </p:cNvSpPr>
          <p:nvPr>
            <p:ph type="title"/>
          </p:nvPr>
        </p:nvSpPr>
        <p:spPr/>
        <p:txBody>
          <a:bodyPr/>
          <a:lstStyle/>
          <a:p>
            <a:r>
              <a:rPr lang="es-ES" b="1" dirty="0"/>
              <a:t>Segmentación de Productos o Regiones con </a:t>
            </a:r>
            <a:r>
              <a:rPr lang="es-ES" b="1" dirty="0" err="1"/>
              <a:t>Clustering</a:t>
            </a:r>
            <a:endParaRPr lang="en-US" dirty="0"/>
          </a:p>
        </p:txBody>
      </p:sp>
      <p:sp>
        <p:nvSpPr>
          <p:cNvPr id="3" name="Marcador de contenido 2">
            <a:extLst>
              <a:ext uri="{FF2B5EF4-FFF2-40B4-BE49-F238E27FC236}">
                <a16:creationId xmlns:a16="http://schemas.microsoft.com/office/drawing/2014/main" id="{9627F6BE-D0BC-E25A-DE6B-129A78E16EDF}"/>
              </a:ext>
            </a:extLst>
          </p:cNvPr>
          <p:cNvSpPr>
            <a:spLocks noGrp="1"/>
          </p:cNvSpPr>
          <p:nvPr>
            <p:ph idx="1"/>
          </p:nvPr>
        </p:nvSpPr>
        <p:spPr/>
        <p:txBody>
          <a:bodyPr/>
          <a:lstStyle/>
          <a:p>
            <a:pPr algn="just"/>
            <a:r>
              <a:rPr lang="es-ES" b="1" dirty="0"/>
              <a:t>Visualizaciones de </a:t>
            </a:r>
            <a:r>
              <a:rPr lang="es-ES" b="1" dirty="0" err="1"/>
              <a:t>Clusters</a:t>
            </a:r>
            <a:r>
              <a:rPr lang="es-ES" b="1" dirty="0"/>
              <a:t>:</a:t>
            </a:r>
            <a:r>
              <a:rPr lang="es-ES" dirty="0"/>
              <a:t> Se generaron gráficos de dispersión para visualizar los </a:t>
            </a:r>
            <a:r>
              <a:rPr lang="es-ES" dirty="0" err="1"/>
              <a:t>clusters</a:t>
            </a:r>
            <a:r>
              <a:rPr lang="es-ES" dirty="0"/>
              <a:t> y entender mejor las relaciones entre las diferentes variables.</a:t>
            </a:r>
          </a:p>
        </p:txBody>
      </p:sp>
    </p:spTree>
    <p:extLst>
      <p:ext uri="{BB962C8B-B14F-4D97-AF65-F5344CB8AC3E}">
        <p14:creationId xmlns:p14="http://schemas.microsoft.com/office/powerpoint/2010/main" val="3056825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E9059FC-A954-8279-4F53-1B7A5567C825}"/>
              </a:ext>
            </a:extLst>
          </p:cNvPr>
          <p:cNvPicPr>
            <a:picLocks noChangeAspect="1"/>
          </p:cNvPicPr>
          <p:nvPr/>
        </p:nvPicPr>
        <p:blipFill>
          <a:blip r:embed="rId2"/>
          <a:stretch>
            <a:fillRect/>
          </a:stretch>
        </p:blipFill>
        <p:spPr>
          <a:xfrm>
            <a:off x="3003177" y="283063"/>
            <a:ext cx="6185646" cy="6291873"/>
          </a:xfrm>
          <a:prstGeom prst="rect">
            <a:avLst/>
          </a:prstGeom>
        </p:spPr>
      </p:pic>
    </p:spTree>
    <p:extLst>
      <p:ext uri="{BB962C8B-B14F-4D97-AF65-F5344CB8AC3E}">
        <p14:creationId xmlns:p14="http://schemas.microsoft.com/office/powerpoint/2010/main" val="586493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B56E3B-B97F-E322-1215-B1322F90C28F}"/>
              </a:ext>
            </a:extLst>
          </p:cNvPr>
          <p:cNvSpPr>
            <a:spLocks noGrp="1"/>
          </p:cNvSpPr>
          <p:nvPr>
            <p:ph type="title"/>
          </p:nvPr>
        </p:nvSpPr>
        <p:spPr/>
        <p:txBody>
          <a:bodyPr/>
          <a:lstStyle/>
          <a:p>
            <a:r>
              <a:rPr lang="es-ES" dirty="0"/>
              <a:t> </a:t>
            </a:r>
            <a:r>
              <a:rPr lang="es-ES" b="1" dirty="0"/>
              <a:t>Análisis de Datos con SQL</a:t>
            </a:r>
            <a:endParaRPr lang="en-US" b="1" dirty="0"/>
          </a:p>
        </p:txBody>
      </p:sp>
      <p:sp>
        <p:nvSpPr>
          <p:cNvPr id="3" name="Marcador de contenido 2">
            <a:extLst>
              <a:ext uri="{FF2B5EF4-FFF2-40B4-BE49-F238E27FC236}">
                <a16:creationId xmlns:a16="http://schemas.microsoft.com/office/drawing/2014/main" id="{D0010B06-D73E-C659-A223-075BA6BB218A}"/>
              </a:ext>
            </a:extLst>
          </p:cNvPr>
          <p:cNvSpPr>
            <a:spLocks noGrp="1"/>
          </p:cNvSpPr>
          <p:nvPr>
            <p:ph idx="1"/>
          </p:nvPr>
        </p:nvSpPr>
        <p:spPr/>
        <p:txBody>
          <a:bodyPr/>
          <a:lstStyle/>
          <a:p>
            <a:pPr algn="just"/>
            <a:r>
              <a:rPr lang="es-ES" sz="2400" b="1" dirty="0"/>
              <a:t>Creación de la Base de Datos</a:t>
            </a:r>
            <a:r>
              <a:rPr lang="es-ES" sz="2400" dirty="0"/>
              <a:t>: La base de datos fue diseñada e implementada en </a:t>
            </a:r>
            <a:r>
              <a:rPr lang="es-ES" sz="2400" b="1" dirty="0"/>
              <a:t>SQL Server</a:t>
            </a:r>
            <a:r>
              <a:rPr lang="es-ES" sz="2400" dirty="0"/>
              <a:t> utilizando las tablas de ventas proporcionadas (</a:t>
            </a:r>
            <a:r>
              <a:rPr lang="es-ES" sz="2400" b="1" dirty="0"/>
              <a:t>DIM_CATEGORY, DIM_PRODUCT, DIM_SEGMENT, DIM_CALENDAR, FACT_SALES</a:t>
            </a:r>
            <a:r>
              <a:rPr lang="es-ES" sz="2400" dirty="0"/>
              <a:t>).</a:t>
            </a:r>
          </a:p>
          <a:p>
            <a:endParaRPr lang="en-US" dirty="0"/>
          </a:p>
        </p:txBody>
      </p:sp>
      <p:pic>
        <p:nvPicPr>
          <p:cNvPr id="5" name="Imagen 4">
            <a:extLst>
              <a:ext uri="{FF2B5EF4-FFF2-40B4-BE49-F238E27FC236}">
                <a16:creationId xmlns:a16="http://schemas.microsoft.com/office/drawing/2014/main" id="{24ECAE7D-A2F7-6F83-2171-6CD0BA1BD522}"/>
              </a:ext>
            </a:extLst>
          </p:cNvPr>
          <p:cNvPicPr>
            <a:picLocks noChangeAspect="1"/>
          </p:cNvPicPr>
          <p:nvPr/>
        </p:nvPicPr>
        <p:blipFill>
          <a:blip r:embed="rId2"/>
          <a:stretch>
            <a:fillRect/>
          </a:stretch>
        </p:blipFill>
        <p:spPr>
          <a:xfrm>
            <a:off x="4781366" y="3219375"/>
            <a:ext cx="2629267" cy="1066949"/>
          </a:xfrm>
          <a:prstGeom prst="rect">
            <a:avLst/>
          </a:prstGeom>
        </p:spPr>
      </p:pic>
    </p:spTree>
    <p:extLst>
      <p:ext uri="{BB962C8B-B14F-4D97-AF65-F5344CB8AC3E}">
        <p14:creationId xmlns:p14="http://schemas.microsoft.com/office/powerpoint/2010/main" val="2119244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8F0F297-CCE5-7C26-56B0-00FE7D2FFB76}"/>
              </a:ext>
            </a:extLst>
          </p:cNvPr>
          <p:cNvPicPr>
            <a:picLocks noChangeAspect="1"/>
          </p:cNvPicPr>
          <p:nvPr/>
        </p:nvPicPr>
        <p:blipFill>
          <a:blip r:embed="rId2"/>
          <a:stretch>
            <a:fillRect/>
          </a:stretch>
        </p:blipFill>
        <p:spPr>
          <a:xfrm>
            <a:off x="4544895" y="0"/>
            <a:ext cx="3102210" cy="6858000"/>
          </a:xfrm>
          <a:prstGeom prst="rect">
            <a:avLst/>
          </a:prstGeom>
        </p:spPr>
      </p:pic>
    </p:spTree>
    <p:extLst>
      <p:ext uri="{BB962C8B-B14F-4D97-AF65-F5344CB8AC3E}">
        <p14:creationId xmlns:p14="http://schemas.microsoft.com/office/powerpoint/2010/main" val="2901602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BD8C53E-7ADF-FA3D-F3CF-A7BFED776373}"/>
              </a:ext>
            </a:extLst>
          </p:cNvPr>
          <p:cNvPicPr>
            <a:picLocks noChangeAspect="1"/>
          </p:cNvPicPr>
          <p:nvPr/>
        </p:nvPicPr>
        <p:blipFill>
          <a:blip r:embed="rId2"/>
          <a:stretch>
            <a:fillRect/>
          </a:stretch>
        </p:blipFill>
        <p:spPr>
          <a:xfrm>
            <a:off x="2491154" y="0"/>
            <a:ext cx="7209692" cy="6858000"/>
          </a:xfrm>
          <a:prstGeom prst="rect">
            <a:avLst/>
          </a:prstGeom>
        </p:spPr>
      </p:pic>
    </p:spTree>
    <p:extLst>
      <p:ext uri="{BB962C8B-B14F-4D97-AF65-F5344CB8AC3E}">
        <p14:creationId xmlns:p14="http://schemas.microsoft.com/office/powerpoint/2010/main" val="623653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423B20-2CD9-1883-3D59-7D6F7B6CF7D3}"/>
              </a:ext>
            </a:extLst>
          </p:cNvPr>
          <p:cNvSpPr>
            <a:spLocks noGrp="1"/>
          </p:cNvSpPr>
          <p:nvPr>
            <p:ph type="title"/>
          </p:nvPr>
        </p:nvSpPr>
        <p:spPr/>
        <p:txBody>
          <a:bodyPr/>
          <a:lstStyle/>
          <a:p>
            <a:r>
              <a:rPr lang="es-ES" dirty="0"/>
              <a:t> </a:t>
            </a:r>
            <a:r>
              <a:rPr lang="es-ES" b="1" dirty="0"/>
              <a:t>Análisis de Datos con SQL</a:t>
            </a:r>
            <a:endParaRPr lang="en-US" dirty="0"/>
          </a:p>
        </p:txBody>
      </p:sp>
      <p:sp>
        <p:nvSpPr>
          <p:cNvPr id="3" name="Marcador de contenido 2">
            <a:extLst>
              <a:ext uri="{FF2B5EF4-FFF2-40B4-BE49-F238E27FC236}">
                <a16:creationId xmlns:a16="http://schemas.microsoft.com/office/drawing/2014/main" id="{996DB5FC-2F63-AF9C-238C-BFAFDC7711B7}"/>
              </a:ext>
            </a:extLst>
          </p:cNvPr>
          <p:cNvSpPr>
            <a:spLocks noGrp="1"/>
          </p:cNvSpPr>
          <p:nvPr>
            <p:ph idx="1"/>
          </p:nvPr>
        </p:nvSpPr>
        <p:spPr/>
        <p:txBody>
          <a:bodyPr/>
          <a:lstStyle/>
          <a:p>
            <a:pPr algn="just"/>
            <a:r>
              <a:rPr lang="es-ES" sz="2400" b="1" dirty="0"/>
              <a:t>Consultas Clave</a:t>
            </a:r>
            <a:r>
              <a:rPr lang="es-ES" sz="2400" dirty="0"/>
              <a:t>: Se ejecutaron consultas básicas para verificar la correcta carga de datos y se realizaron uniones entre las tablas para obtener </a:t>
            </a:r>
            <a:r>
              <a:rPr lang="es-ES" sz="2400" dirty="0" err="1"/>
              <a:t>insights</a:t>
            </a:r>
            <a:r>
              <a:rPr lang="es-ES" sz="2400" dirty="0"/>
              <a:t> sobre las ventas por categoría y región.</a:t>
            </a:r>
          </a:p>
          <a:p>
            <a:endParaRPr lang="en-US" dirty="0"/>
          </a:p>
        </p:txBody>
      </p:sp>
      <p:pic>
        <p:nvPicPr>
          <p:cNvPr id="5" name="Imagen 4">
            <a:extLst>
              <a:ext uri="{FF2B5EF4-FFF2-40B4-BE49-F238E27FC236}">
                <a16:creationId xmlns:a16="http://schemas.microsoft.com/office/drawing/2014/main" id="{39EE2460-2DCF-EEFC-062C-FCC36BC83B99}"/>
              </a:ext>
            </a:extLst>
          </p:cNvPr>
          <p:cNvPicPr>
            <a:picLocks noChangeAspect="1"/>
          </p:cNvPicPr>
          <p:nvPr/>
        </p:nvPicPr>
        <p:blipFill>
          <a:blip r:embed="rId2"/>
          <a:stretch>
            <a:fillRect/>
          </a:stretch>
        </p:blipFill>
        <p:spPr>
          <a:xfrm>
            <a:off x="938011" y="3056155"/>
            <a:ext cx="2886478" cy="943107"/>
          </a:xfrm>
          <a:prstGeom prst="rect">
            <a:avLst/>
          </a:prstGeom>
        </p:spPr>
      </p:pic>
      <p:pic>
        <p:nvPicPr>
          <p:cNvPr id="7" name="Imagen 6">
            <a:extLst>
              <a:ext uri="{FF2B5EF4-FFF2-40B4-BE49-F238E27FC236}">
                <a16:creationId xmlns:a16="http://schemas.microsoft.com/office/drawing/2014/main" id="{6E70232B-89B1-56EB-8158-355E1B87889B}"/>
              </a:ext>
            </a:extLst>
          </p:cNvPr>
          <p:cNvPicPr>
            <a:picLocks noChangeAspect="1"/>
          </p:cNvPicPr>
          <p:nvPr/>
        </p:nvPicPr>
        <p:blipFill>
          <a:blip r:embed="rId3"/>
          <a:stretch>
            <a:fillRect/>
          </a:stretch>
        </p:blipFill>
        <p:spPr>
          <a:xfrm>
            <a:off x="982225" y="3999262"/>
            <a:ext cx="2798050" cy="810863"/>
          </a:xfrm>
          <a:prstGeom prst="rect">
            <a:avLst/>
          </a:prstGeom>
        </p:spPr>
      </p:pic>
      <p:pic>
        <p:nvPicPr>
          <p:cNvPr id="9" name="Imagen 8">
            <a:extLst>
              <a:ext uri="{FF2B5EF4-FFF2-40B4-BE49-F238E27FC236}">
                <a16:creationId xmlns:a16="http://schemas.microsoft.com/office/drawing/2014/main" id="{E35C7EA6-1230-80C4-EA6B-6AD1EE3B709F}"/>
              </a:ext>
            </a:extLst>
          </p:cNvPr>
          <p:cNvPicPr>
            <a:picLocks noChangeAspect="1"/>
          </p:cNvPicPr>
          <p:nvPr/>
        </p:nvPicPr>
        <p:blipFill>
          <a:blip r:embed="rId4"/>
          <a:stretch>
            <a:fillRect/>
          </a:stretch>
        </p:blipFill>
        <p:spPr>
          <a:xfrm>
            <a:off x="4602791" y="3080695"/>
            <a:ext cx="2986353" cy="986943"/>
          </a:xfrm>
          <a:prstGeom prst="rect">
            <a:avLst/>
          </a:prstGeom>
        </p:spPr>
      </p:pic>
      <p:pic>
        <p:nvPicPr>
          <p:cNvPr id="11" name="Imagen 10">
            <a:extLst>
              <a:ext uri="{FF2B5EF4-FFF2-40B4-BE49-F238E27FC236}">
                <a16:creationId xmlns:a16="http://schemas.microsoft.com/office/drawing/2014/main" id="{AB2A629F-0954-5BEC-C445-5897FE96F3DA}"/>
              </a:ext>
            </a:extLst>
          </p:cNvPr>
          <p:cNvPicPr>
            <a:picLocks noChangeAspect="1"/>
          </p:cNvPicPr>
          <p:nvPr/>
        </p:nvPicPr>
        <p:blipFill>
          <a:blip r:embed="rId5"/>
          <a:srcRect b="19694"/>
          <a:stretch>
            <a:fillRect/>
          </a:stretch>
        </p:blipFill>
        <p:spPr>
          <a:xfrm>
            <a:off x="5380205" y="4067638"/>
            <a:ext cx="1431524" cy="2700218"/>
          </a:xfrm>
          <a:prstGeom prst="rect">
            <a:avLst/>
          </a:prstGeom>
        </p:spPr>
      </p:pic>
      <p:pic>
        <p:nvPicPr>
          <p:cNvPr id="13" name="Imagen 12">
            <a:extLst>
              <a:ext uri="{FF2B5EF4-FFF2-40B4-BE49-F238E27FC236}">
                <a16:creationId xmlns:a16="http://schemas.microsoft.com/office/drawing/2014/main" id="{64CFFF38-917D-BBCC-A4A8-570A619701A1}"/>
              </a:ext>
            </a:extLst>
          </p:cNvPr>
          <p:cNvPicPr>
            <a:picLocks noChangeAspect="1"/>
          </p:cNvPicPr>
          <p:nvPr/>
        </p:nvPicPr>
        <p:blipFill>
          <a:blip r:embed="rId6"/>
          <a:stretch>
            <a:fillRect/>
          </a:stretch>
        </p:blipFill>
        <p:spPr>
          <a:xfrm>
            <a:off x="8578119" y="3057213"/>
            <a:ext cx="2775681" cy="942049"/>
          </a:xfrm>
          <a:prstGeom prst="rect">
            <a:avLst/>
          </a:prstGeom>
        </p:spPr>
      </p:pic>
      <p:pic>
        <p:nvPicPr>
          <p:cNvPr id="15" name="Imagen 14">
            <a:extLst>
              <a:ext uri="{FF2B5EF4-FFF2-40B4-BE49-F238E27FC236}">
                <a16:creationId xmlns:a16="http://schemas.microsoft.com/office/drawing/2014/main" id="{9619A54B-8A81-1EA7-2666-5BDEEB7631B7}"/>
              </a:ext>
            </a:extLst>
          </p:cNvPr>
          <p:cNvPicPr>
            <a:picLocks noChangeAspect="1"/>
          </p:cNvPicPr>
          <p:nvPr/>
        </p:nvPicPr>
        <p:blipFill>
          <a:blip r:embed="rId7"/>
          <a:stretch>
            <a:fillRect/>
          </a:stretch>
        </p:blipFill>
        <p:spPr>
          <a:xfrm>
            <a:off x="8446509" y="4067638"/>
            <a:ext cx="3038899" cy="1676634"/>
          </a:xfrm>
          <a:prstGeom prst="rect">
            <a:avLst/>
          </a:prstGeom>
        </p:spPr>
      </p:pic>
    </p:spTree>
    <p:extLst>
      <p:ext uri="{BB962C8B-B14F-4D97-AF65-F5344CB8AC3E}">
        <p14:creationId xmlns:p14="http://schemas.microsoft.com/office/powerpoint/2010/main" val="3226526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380258F-840F-C4F2-E223-4621E72C86DD}"/>
              </a:ext>
            </a:extLst>
          </p:cNvPr>
          <p:cNvPicPr>
            <a:picLocks noChangeAspect="1"/>
          </p:cNvPicPr>
          <p:nvPr/>
        </p:nvPicPr>
        <p:blipFill>
          <a:blip r:embed="rId2"/>
          <a:stretch>
            <a:fillRect/>
          </a:stretch>
        </p:blipFill>
        <p:spPr>
          <a:xfrm>
            <a:off x="766508" y="1352260"/>
            <a:ext cx="3248478" cy="2191056"/>
          </a:xfrm>
          <a:prstGeom prst="rect">
            <a:avLst/>
          </a:prstGeom>
        </p:spPr>
      </p:pic>
      <p:pic>
        <p:nvPicPr>
          <p:cNvPr id="7" name="Imagen 6">
            <a:extLst>
              <a:ext uri="{FF2B5EF4-FFF2-40B4-BE49-F238E27FC236}">
                <a16:creationId xmlns:a16="http://schemas.microsoft.com/office/drawing/2014/main" id="{2CC3B21C-CEEC-09DE-C85A-66813DF175F8}"/>
              </a:ext>
            </a:extLst>
          </p:cNvPr>
          <p:cNvPicPr>
            <a:picLocks noChangeAspect="1"/>
          </p:cNvPicPr>
          <p:nvPr/>
        </p:nvPicPr>
        <p:blipFill>
          <a:blip r:embed="rId3"/>
          <a:stretch>
            <a:fillRect/>
          </a:stretch>
        </p:blipFill>
        <p:spPr>
          <a:xfrm>
            <a:off x="966560" y="3705060"/>
            <a:ext cx="2848373" cy="628738"/>
          </a:xfrm>
          <a:prstGeom prst="rect">
            <a:avLst/>
          </a:prstGeom>
        </p:spPr>
      </p:pic>
      <p:pic>
        <p:nvPicPr>
          <p:cNvPr id="9" name="Imagen 8">
            <a:extLst>
              <a:ext uri="{FF2B5EF4-FFF2-40B4-BE49-F238E27FC236}">
                <a16:creationId xmlns:a16="http://schemas.microsoft.com/office/drawing/2014/main" id="{D7C552CA-4F94-BB15-7372-C7C65ADBFAD2}"/>
              </a:ext>
            </a:extLst>
          </p:cNvPr>
          <p:cNvPicPr>
            <a:picLocks noChangeAspect="1"/>
          </p:cNvPicPr>
          <p:nvPr/>
        </p:nvPicPr>
        <p:blipFill>
          <a:blip r:embed="rId4"/>
          <a:stretch>
            <a:fillRect/>
          </a:stretch>
        </p:blipFill>
        <p:spPr>
          <a:xfrm>
            <a:off x="4486031" y="1352260"/>
            <a:ext cx="3486637" cy="1962424"/>
          </a:xfrm>
          <a:prstGeom prst="rect">
            <a:avLst/>
          </a:prstGeom>
        </p:spPr>
      </p:pic>
      <p:pic>
        <p:nvPicPr>
          <p:cNvPr id="11" name="Imagen 10">
            <a:extLst>
              <a:ext uri="{FF2B5EF4-FFF2-40B4-BE49-F238E27FC236}">
                <a16:creationId xmlns:a16="http://schemas.microsoft.com/office/drawing/2014/main" id="{C2445D63-44A4-BB92-EB62-1E17DB81E6BA}"/>
              </a:ext>
            </a:extLst>
          </p:cNvPr>
          <p:cNvPicPr>
            <a:picLocks noChangeAspect="1"/>
          </p:cNvPicPr>
          <p:nvPr/>
        </p:nvPicPr>
        <p:blipFill>
          <a:blip r:embed="rId5"/>
          <a:stretch>
            <a:fillRect/>
          </a:stretch>
        </p:blipFill>
        <p:spPr>
          <a:xfrm>
            <a:off x="4204854" y="3429000"/>
            <a:ext cx="4048989" cy="1486021"/>
          </a:xfrm>
          <a:prstGeom prst="rect">
            <a:avLst/>
          </a:prstGeom>
        </p:spPr>
      </p:pic>
      <p:pic>
        <p:nvPicPr>
          <p:cNvPr id="13" name="Imagen 12">
            <a:extLst>
              <a:ext uri="{FF2B5EF4-FFF2-40B4-BE49-F238E27FC236}">
                <a16:creationId xmlns:a16="http://schemas.microsoft.com/office/drawing/2014/main" id="{A8E73141-0A2D-56A6-AAEB-84DBD61B54A8}"/>
              </a:ext>
            </a:extLst>
          </p:cNvPr>
          <p:cNvPicPr>
            <a:picLocks noChangeAspect="1"/>
          </p:cNvPicPr>
          <p:nvPr/>
        </p:nvPicPr>
        <p:blipFill>
          <a:blip r:embed="rId6"/>
          <a:stretch>
            <a:fillRect/>
          </a:stretch>
        </p:blipFill>
        <p:spPr>
          <a:xfrm>
            <a:off x="8424663" y="1352260"/>
            <a:ext cx="3129905" cy="1515007"/>
          </a:xfrm>
          <a:prstGeom prst="rect">
            <a:avLst/>
          </a:prstGeom>
        </p:spPr>
      </p:pic>
      <p:pic>
        <p:nvPicPr>
          <p:cNvPr id="15" name="Imagen 14">
            <a:extLst>
              <a:ext uri="{FF2B5EF4-FFF2-40B4-BE49-F238E27FC236}">
                <a16:creationId xmlns:a16="http://schemas.microsoft.com/office/drawing/2014/main" id="{6E71AAFB-C8C5-F252-D4D2-94392B288D29}"/>
              </a:ext>
            </a:extLst>
          </p:cNvPr>
          <p:cNvPicPr>
            <a:picLocks noChangeAspect="1"/>
          </p:cNvPicPr>
          <p:nvPr/>
        </p:nvPicPr>
        <p:blipFill>
          <a:blip r:embed="rId7"/>
          <a:stretch>
            <a:fillRect/>
          </a:stretch>
        </p:blipFill>
        <p:spPr>
          <a:xfrm>
            <a:off x="8967742" y="2962259"/>
            <a:ext cx="1952898" cy="2210108"/>
          </a:xfrm>
          <a:prstGeom prst="rect">
            <a:avLst/>
          </a:prstGeom>
        </p:spPr>
      </p:pic>
    </p:spTree>
    <p:extLst>
      <p:ext uri="{BB962C8B-B14F-4D97-AF65-F5344CB8AC3E}">
        <p14:creationId xmlns:p14="http://schemas.microsoft.com/office/powerpoint/2010/main" val="944825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632BAAC-92AF-B42C-49DC-86BB65EE39A4}"/>
              </a:ext>
            </a:extLst>
          </p:cNvPr>
          <p:cNvPicPr>
            <a:picLocks noChangeAspect="1"/>
          </p:cNvPicPr>
          <p:nvPr/>
        </p:nvPicPr>
        <p:blipFill>
          <a:blip r:embed="rId2"/>
          <a:stretch>
            <a:fillRect/>
          </a:stretch>
        </p:blipFill>
        <p:spPr>
          <a:xfrm>
            <a:off x="2055851" y="1123817"/>
            <a:ext cx="3400900" cy="1905266"/>
          </a:xfrm>
          <a:prstGeom prst="rect">
            <a:avLst/>
          </a:prstGeom>
        </p:spPr>
      </p:pic>
      <p:pic>
        <p:nvPicPr>
          <p:cNvPr id="7" name="Imagen 6">
            <a:extLst>
              <a:ext uri="{FF2B5EF4-FFF2-40B4-BE49-F238E27FC236}">
                <a16:creationId xmlns:a16="http://schemas.microsoft.com/office/drawing/2014/main" id="{AA384D49-B9B2-DAED-575A-FF2FDFB9FF27}"/>
              </a:ext>
            </a:extLst>
          </p:cNvPr>
          <p:cNvPicPr>
            <a:picLocks noChangeAspect="1"/>
          </p:cNvPicPr>
          <p:nvPr/>
        </p:nvPicPr>
        <p:blipFill>
          <a:blip r:embed="rId3"/>
          <a:stretch>
            <a:fillRect/>
          </a:stretch>
        </p:blipFill>
        <p:spPr>
          <a:xfrm>
            <a:off x="861775" y="3200353"/>
            <a:ext cx="5789053" cy="2128994"/>
          </a:xfrm>
          <a:prstGeom prst="rect">
            <a:avLst/>
          </a:prstGeom>
        </p:spPr>
      </p:pic>
      <p:pic>
        <p:nvPicPr>
          <p:cNvPr id="9" name="Imagen 8">
            <a:extLst>
              <a:ext uri="{FF2B5EF4-FFF2-40B4-BE49-F238E27FC236}">
                <a16:creationId xmlns:a16="http://schemas.microsoft.com/office/drawing/2014/main" id="{733CD9BF-99DA-E79D-E425-16626CD79EC5}"/>
              </a:ext>
            </a:extLst>
          </p:cNvPr>
          <p:cNvPicPr>
            <a:picLocks noChangeAspect="1"/>
          </p:cNvPicPr>
          <p:nvPr/>
        </p:nvPicPr>
        <p:blipFill>
          <a:blip r:embed="rId4"/>
          <a:stretch>
            <a:fillRect/>
          </a:stretch>
        </p:blipFill>
        <p:spPr>
          <a:xfrm>
            <a:off x="7314980" y="1123817"/>
            <a:ext cx="3143689" cy="1810003"/>
          </a:xfrm>
          <a:prstGeom prst="rect">
            <a:avLst/>
          </a:prstGeom>
        </p:spPr>
      </p:pic>
      <p:pic>
        <p:nvPicPr>
          <p:cNvPr id="11" name="Imagen 10">
            <a:extLst>
              <a:ext uri="{FF2B5EF4-FFF2-40B4-BE49-F238E27FC236}">
                <a16:creationId xmlns:a16="http://schemas.microsoft.com/office/drawing/2014/main" id="{15836786-6314-B4BF-CB20-46B4E4CB41BF}"/>
              </a:ext>
            </a:extLst>
          </p:cNvPr>
          <p:cNvPicPr>
            <a:picLocks noChangeAspect="1"/>
          </p:cNvPicPr>
          <p:nvPr/>
        </p:nvPicPr>
        <p:blipFill>
          <a:blip r:embed="rId5"/>
          <a:stretch>
            <a:fillRect/>
          </a:stretch>
        </p:blipFill>
        <p:spPr>
          <a:xfrm>
            <a:off x="7819875" y="3595556"/>
            <a:ext cx="2133898" cy="1733792"/>
          </a:xfrm>
          <a:prstGeom prst="rect">
            <a:avLst/>
          </a:prstGeom>
        </p:spPr>
      </p:pic>
    </p:spTree>
    <p:extLst>
      <p:ext uri="{BB962C8B-B14F-4D97-AF65-F5344CB8AC3E}">
        <p14:creationId xmlns:p14="http://schemas.microsoft.com/office/powerpoint/2010/main" val="3903432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8877790-BD8F-777F-CA49-F323E9AD5ACE}"/>
              </a:ext>
            </a:extLst>
          </p:cNvPr>
          <p:cNvPicPr>
            <a:picLocks noChangeAspect="1"/>
          </p:cNvPicPr>
          <p:nvPr/>
        </p:nvPicPr>
        <p:blipFill>
          <a:blip r:embed="rId2"/>
          <a:stretch>
            <a:fillRect/>
          </a:stretch>
        </p:blipFill>
        <p:spPr>
          <a:xfrm>
            <a:off x="4224076" y="614206"/>
            <a:ext cx="3743847" cy="2238687"/>
          </a:xfrm>
          <a:prstGeom prst="rect">
            <a:avLst/>
          </a:prstGeom>
        </p:spPr>
      </p:pic>
      <p:pic>
        <p:nvPicPr>
          <p:cNvPr id="5" name="Imagen 4">
            <a:extLst>
              <a:ext uri="{FF2B5EF4-FFF2-40B4-BE49-F238E27FC236}">
                <a16:creationId xmlns:a16="http://schemas.microsoft.com/office/drawing/2014/main" id="{220E4245-C382-1202-A804-C7D7CB913516}"/>
              </a:ext>
            </a:extLst>
          </p:cNvPr>
          <p:cNvPicPr>
            <a:picLocks noChangeAspect="1"/>
          </p:cNvPicPr>
          <p:nvPr/>
        </p:nvPicPr>
        <p:blipFill>
          <a:blip r:embed="rId3"/>
          <a:stretch>
            <a:fillRect/>
          </a:stretch>
        </p:blipFill>
        <p:spPr>
          <a:xfrm>
            <a:off x="4657523" y="2985873"/>
            <a:ext cx="2876951" cy="3077004"/>
          </a:xfrm>
          <a:prstGeom prst="rect">
            <a:avLst/>
          </a:prstGeom>
        </p:spPr>
      </p:pic>
    </p:spTree>
    <p:extLst>
      <p:ext uri="{BB962C8B-B14F-4D97-AF65-F5344CB8AC3E}">
        <p14:creationId xmlns:p14="http://schemas.microsoft.com/office/powerpoint/2010/main" val="3941055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612E41-AB6E-AAB3-5102-9B83743F4554}"/>
              </a:ext>
            </a:extLst>
          </p:cNvPr>
          <p:cNvSpPr>
            <a:spLocks noGrp="1"/>
          </p:cNvSpPr>
          <p:nvPr>
            <p:ph type="title"/>
          </p:nvPr>
        </p:nvSpPr>
        <p:spPr/>
        <p:txBody>
          <a:bodyPr/>
          <a:lstStyle/>
          <a:p>
            <a:r>
              <a:rPr lang="es-ES" b="1" dirty="0"/>
              <a:t>Creación de un </a:t>
            </a:r>
            <a:r>
              <a:rPr lang="es-ES" b="1" dirty="0" err="1"/>
              <a:t>Dashboard</a:t>
            </a:r>
            <a:r>
              <a:rPr lang="es-ES" b="1" dirty="0"/>
              <a:t> en </a:t>
            </a:r>
            <a:r>
              <a:rPr lang="es-ES" b="1" dirty="0" err="1"/>
              <a:t>PowerBI</a:t>
            </a:r>
            <a:endParaRPr lang="en-US" b="1" dirty="0"/>
          </a:p>
        </p:txBody>
      </p:sp>
      <p:sp>
        <p:nvSpPr>
          <p:cNvPr id="3" name="Marcador de contenido 2">
            <a:extLst>
              <a:ext uri="{FF2B5EF4-FFF2-40B4-BE49-F238E27FC236}">
                <a16:creationId xmlns:a16="http://schemas.microsoft.com/office/drawing/2014/main" id="{F6198A96-58BF-398F-A7C6-AF98164BDDA5}"/>
              </a:ext>
            </a:extLst>
          </p:cNvPr>
          <p:cNvSpPr>
            <a:spLocks noGrp="1"/>
          </p:cNvSpPr>
          <p:nvPr>
            <p:ph idx="1"/>
          </p:nvPr>
        </p:nvSpPr>
        <p:spPr/>
        <p:txBody>
          <a:bodyPr/>
          <a:lstStyle/>
          <a:p>
            <a:pPr algn="just"/>
            <a:r>
              <a:rPr lang="es-ES" sz="2400" b="1" dirty="0"/>
              <a:t>Estructura del </a:t>
            </a:r>
            <a:r>
              <a:rPr lang="es-ES" sz="2400" b="1" dirty="0" err="1"/>
              <a:t>Dashboard</a:t>
            </a:r>
            <a:r>
              <a:rPr lang="es-ES" sz="2400" b="1" dirty="0"/>
              <a:t>:</a:t>
            </a:r>
            <a:r>
              <a:rPr lang="es-ES" sz="2400" dirty="0"/>
              <a:t> el tablero incluye secciones clave como resumen de ventas, desempeño por categoría, y análisis geográfico. Las visualizaciones fueron diseñadas para ser interactivas, permitiendo a los usuarios explorar los datos mediante filtros.</a:t>
            </a:r>
          </a:p>
          <a:p>
            <a:pPr algn="just"/>
            <a:r>
              <a:rPr lang="es-ES" sz="2400" b="1" dirty="0"/>
              <a:t>Visualizaciones Interactivas:</a:t>
            </a:r>
            <a:r>
              <a:rPr lang="es-ES" sz="2400" dirty="0"/>
              <a:t> se utilizaron gráficos de barras, líneas, mapas y tablas dinámicas para representar los </a:t>
            </a:r>
            <a:r>
              <a:rPr lang="es-ES" sz="2400" dirty="0" err="1"/>
              <a:t>insights</a:t>
            </a:r>
            <a:r>
              <a:rPr lang="es-ES" sz="2400" dirty="0"/>
              <a:t> obtenidos. Los usuarios pueden filtrar los resultados por región, segmento y fechas.</a:t>
            </a:r>
          </a:p>
          <a:p>
            <a:pPr algn="just"/>
            <a:r>
              <a:rPr lang="en-US" sz="2400" b="1" dirty="0"/>
              <a:t>Enlace:</a:t>
            </a:r>
            <a:r>
              <a:rPr lang="en-US" sz="2400" dirty="0"/>
              <a:t> https://app.powerbi.com/links/2AV2WPFxOh?ctid=61d74b36-06a3-4fef-95d2-840e446dfdea&amp;pbi_source=linkShare</a:t>
            </a:r>
            <a:endParaRPr lang="es-ES" sz="2400" dirty="0"/>
          </a:p>
          <a:p>
            <a:endParaRPr lang="en-US" dirty="0"/>
          </a:p>
        </p:txBody>
      </p:sp>
    </p:spTree>
    <p:extLst>
      <p:ext uri="{BB962C8B-B14F-4D97-AF65-F5344CB8AC3E}">
        <p14:creationId xmlns:p14="http://schemas.microsoft.com/office/powerpoint/2010/main" val="3188660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CB952B1-68A3-D88D-D053-CFB4DF200E9F}"/>
              </a:ext>
            </a:extLst>
          </p:cNvPr>
          <p:cNvPicPr>
            <a:picLocks noChangeAspect="1"/>
          </p:cNvPicPr>
          <p:nvPr/>
        </p:nvPicPr>
        <p:blipFill>
          <a:blip r:embed="rId2"/>
          <a:stretch>
            <a:fillRect/>
          </a:stretch>
        </p:blipFill>
        <p:spPr>
          <a:xfrm>
            <a:off x="34966" y="0"/>
            <a:ext cx="12122068" cy="6858000"/>
          </a:xfrm>
          <a:prstGeom prst="rect">
            <a:avLst/>
          </a:prstGeom>
        </p:spPr>
      </p:pic>
    </p:spTree>
    <p:extLst>
      <p:ext uri="{BB962C8B-B14F-4D97-AF65-F5344CB8AC3E}">
        <p14:creationId xmlns:p14="http://schemas.microsoft.com/office/powerpoint/2010/main" val="108302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ACF09EB-13EA-3E1C-97F8-742DBEB4698F}"/>
              </a:ext>
            </a:extLst>
          </p:cNvPr>
          <p:cNvPicPr>
            <a:picLocks noChangeAspect="1"/>
          </p:cNvPicPr>
          <p:nvPr/>
        </p:nvPicPr>
        <p:blipFill>
          <a:blip r:embed="rId2"/>
          <a:stretch>
            <a:fillRect/>
          </a:stretch>
        </p:blipFill>
        <p:spPr>
          <a:xfrm>
            <a:off x="6852" y="0"/>
            <a:ext cx="12178295" cy="6858000"/>
          </a:xfrm>
          <a:prstGeom prst="rect">
            <a:avLst/>
          </a:prstGeom>
        </p:spPr>
      </p:pic>
    </p:spTree>
    <p:extLst>
      <p:ext uri="{BB962C8B-B14F-4D97-AF65-F5344CB8AC3E}">
        <p14:creationId xmlns:p14="http://schemas.microsoft.com/office/powerpoint/2010/main" val="12177061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FD71323-7222-5FA5-31C6-E77220D66AEC}"/>
              </a:ext>
            </a:extLst>
          </p:cNvPr>
          <p:cNvPicPr>
            <a:picLocks noChangeAspect="1"/>
          </p:cNvPicPr>
          <p:nvPr/>
        </p:nvPicPr>
        <p:blipFill>
          <a:blip r:embed="rId2"/>
          <a:stretch>
            <a:fillRect/>
          </a:stretch>
        </p:blipFill>
        <p:spPr>
          <a:xfrm>
            <a:off x="18251" y="0"/>
            <a:ext cx="12155498" cy="6858000"/>
          </a:xfrm>
          <a:prstGeom prst="rect">
            <a:avLst/>
          </a:prstGeom>
        </p:spPr>
      </p:pic>
    </p:spTree>
    <p:extLst>
      <p:ext uri="{BB962C8B-B14F-4D97-AF65-F5344CB8AC3E}">
        <p14:creationId xmlns:p14="http://schemas.microsoft.com/office/powerpoint/2010/main" val="3530012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8B67CB-A2D0-28CE-3961-6D9B7660D406}"/>
              </a:ext>
            </a:extLst>
          </p:cNvPr>
          <p:cNvSpPr>
            <a:spLocks noGrp="1"/>
          </p:cNvSpPr>
          <p:nvPr>
            <p:ph type="title"/>
          </p:nvPr>
        </p:nvSpPr>
        <p:spPr/>
        <p:txBody>
          <a:bodyPr/>
          <a:lstStyle/>
          <a:p>
            <a:r>
              <a:rPr lang="es-ES" b="1" dirty="0"/>
              <a:t>Predicción de Ventas con Machine </a:t>
            </a:r>
            <a:r>
              <a:rPr lang="es-ES" b="1" dirty="0" err="1"/>
              <a:t>Learning</a:t>
            </a:r>
            <a:endParaRPr lang="en-US" b="1" dirty="0"/>
          </a:p>
        </p:txBody>
      </p:sp>
      <p:sp>
        <p:nvSpPr>
          <p:cNvPr id="3" name="Marcador de contenido 2">
            <a:extLst>
              <a:ext uri="{FF2B5EF4-FFF2-40B4-BE49-F238E27FC236}">
                <a16:creationId xmlns:a16="http://schemas.microsoft.com/office/drawing/2014/main" id="{DA8CAA17-36B4-1E3D-0B67-577EBC7A6B8B}"/>
              </a:ext>
            </a:extLst>
          </p:cNvPr>
          <p:cNvSpPr>
            <a:spLocks noGrp="1"/>
          </p:cNvSpPr>
          <p:nvPr>
            <p:ph idx="1"/>
          </p:nvPr>
        </p:nvSpPr>
        <p:spPr/>
        <p:txBody>
          <a:bodyPr/>
          <a:lstStyle/>
          <a:p>
            <a:pPr algn="just"/>
            <a:r>
              <a:rPr lang="es-ES" b="1" dirty="0"/>
              <a:t>Selección del Modelo</a:t>
            </a:r>
            <a:r>
              <a:rPr lang="es-ES" dirty="0"/>
              <a:t>: Se utilizó un modelo de </a:t>
            </a:r>
            <a:r>
              <a:rPr lang="es-ES" b="1" dirty="0"/>
              <a:t>series de tiempo ARIMA</a:t>
            </a:r>
            <a:r>
              <a:rPr lang="es-ES" dirty="0"/>
              <a:t> para predecir las ventas futuras. La selección del modelo se basó en los patrones de ventas observados en los datos históricos.</a:t>
            </a:r>
          </a:p>
          <a:p>
            <a:endParaRPr lang="en-US" dirty="0"/>
          </a:p>
        </p:txBody>
      </p:sp>
    </p:spTree>
    <p:extLst>
      <p:ext uri="{BB962C8B-B14F-4D97-AF65-F5344CB8AC3E}">
        <p14:creationId xmlns:p14="http://schemas.microsoft.com/office/powerpoint/2010/main" val="41410056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4A79B18-A89B-B092-9FCD-51B217806345}"/>
              </a:ext>
            </a:extLst>
          </p:cNvPr>
          <p:cNvPicPr>
            <a:picLocks noChangeAspect="1"/>
          </p:cNvPicPr>
          <p:nvPr/>
        </p:nvPicPr>
        <p:blipFill>
          <a:blip r:embed="rId2"/>
          <a:stretch>
            <a:fillRect/>
          </a:stretch>
        </p:blipFill>
        <p:spPr>
          <a:xfrm>
            <a:off x="913677" y="285311"/>
            <a:ext cx="10364646" cy="6287377"/>
          </a:xfrm>
          <a:prstGeom prst="rect">
            <a:avLst/>
          </a:prstGeom>
        </p:spPr>
      </p:pic>
    </p:spTree>
    <p:extLst>
      <p:ext uri="{BB962C8B-B14F-4D97-AF65-F5344CB8AC3E}">
        <p14:creationId xmlns:p14="http://schemas.microsoft.com/office/powerpoint/2010/main" val="2260841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63E6C9D-30FD-2B1B-5130-D9E4918F1544}"/>
              </a:ext>
            </a:extLst>
          </p:cNvPr>
          <p:cNvPicPr>
            <a:picLocks noChangeAspect="1"/>
          </p:cNvPicPr>
          <p:nvPr/>
        </p:nvPicPr>
        <p:blipFill>
          <a:blip r:embed="rId2"/>
          <a:stretch>
            <a:fillRect/>
          </a:stretch>
        </p:blipFill>
        <p:spPr>
          <a:xfrm>
            <a:off x="2599411" y="0"/>
            <a:ext cx="6993177" cy="6858000"/>
          </a:xfrm>
          <a:prstGeom prst="rect">
            <a:avLst/>
          </a:prstGeom>
        </p:spPr>
      </p:pic>
    </p:spTree>
    <p:extLst>
      <p:ext uri="{BB962C8B-B14F-4D97-AF65-F5344CB8AC3E}">
        <p14:creationId xmlns:p14="http://schemas.microsoft.com/office/powerpoint/2010/main" val="10067724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09058B9-63A5-25C8-7EF0-8F122BCDE756}"/>
              </a:ext>
            </a:extLst>
          </p:cNvPr>
          <p:cNvPicPr>
            <a:picLocks noChangeAspect="1"/>
          </p:cNvPicPr>
          <p:nvPr/>
        </p:nvPicPr>
        <p:blipFill>
          <a:blip r:embed="rId2"/>
          <a:stretch>
            <a:fillRect/>
          </a:stretch>
        </p:blipFill>
        <p:spPr>
          <a:xfrm>
            <a:off x="3338381" y="0"/>
            <a:ext cx="5515238" cy="6858000"/>
          </a:xfrm>
          <a:prstGeom prst="rect">
            <a:avLst/>
          </a:prstGeom>
        </p:spPr>
      </p:pic>
    </p:spTree>
    <p:extLst>
      <p:ext uri="{BB962C8B-B14F-4D97-AF65-F5344CB8AC3E}">
        <p14:creationId xmlns:p14="http://schemas.microsoft.com/office/powerpoint/2010/main" val="37205139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389057-5058-7A34-04B8-ABDB4E67021E}"/>
              </a:ext>
            </a:extLst>
          </p:cNvPr>
          <p:cNvSpPr>
            <a:spLocks noGrp="1"/>
          </p:cNvSpPr>
          <p:nvPr>
            <p:ph type="title"/>
          </p:nvPr>
        </p:nvSpPr>
        <p:spPr/>
        <p:txBody>
          <a:bodyPr/>
          <a:lstStyle/>
          <a:p>
            <a:r>
              <a:rPr lang="es-ES" b="1" dirty="0"/>
              <a:t>Predicción de Ventas con Machine </a:t>
            </a:r>
            <a:r>
              <a:rPr lang="es-ES" b="1" dirty="0" err="1"/>
              <a:t>Learning</a:t>
            </a:r>
            <a:endParaRPr lang="en-US" b="1" dirty="0"/>
          </a:p>
        </p:txBody>
      </p:sp>
      <p:sp>
        <p:nvSpPr>
          <p:cNvPr id="3" name="Marcador de contenido 2">
            <a:extLst>
              <a:ext uri="{FF2B5EF4-FFF2-40B4-BE49-F238E27FC236}">
                <a16:creationId xmlns:a16="http://schemas.microsoft.com/office/drawing/2014/main" id="{36FE2B20-767C-F77B-2D41-2C0C54DDA9B4}"/>
              </a:ext>
            </a:extLst>
          </p:cNvPr>
          <p:cNvSpPr>
            <a:spLocks noGrp="1"/>
          </p:cNvSpPr>
          <p:nvPr>
            <p:ph idx="1"/>
          </p:nvPr>
        </p:nvSpPr>
        <p:spPr/>
        <p:txBody>
          <a:bodyPr/>
          <a:lstStyle/>
          <a:p>
            <a:r>
              <a:rPr lang="es-ES" b="1" dirty="0"/>
              <a:t>Validación del Modelo</a:t>
            </a:r>
            <a:r>
              <a:rPr lang="es-ES" dirty="0"/>
              <a:t>: El modelo fue validado utilizando métricas como el </a:t>
            </a:r>
            <a:r>
              <a:rPr lang="es-ES" b="1" dirty="0"/>
              <a:t>Error Absoluto Medio (MAE)</a:t>
            </a:r>
            <a:r>
              <a:rPr lang="es-ES" dirty="0"/>
              <a:t> y el </a:t>
            </a:r>
            <a:r>
              <a:rPr lang="es-ES" b="1" dirty="0"/>
              <a:t>Error Cuadrático Medio (MSE)</a:t>
            </a:r>
            <a:r>
              <a:rPr lang="es-ES" dirty="0"/>
              <a:t>. Se realizaron ajustes para optimizar la precisión del modelo.</a:t>
            </a:r>
          </a:p>
          <a:p>
            <a:endParaRPr lang="en-US" dirty="0"/>
          </a:p>
        </p:txBody>
      </p:sp>
    </p:spTree>
    <p:extLst>
      <p:ext uri="{BB962C8B-B14F-4D97-AF65-F5344CB8AC3E}">
        <p14:creationId xmlns:p14="http://schemas.microsoft.com/office/powerpoint/2010/main" val="37849189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F3DEEF9-864A-857F-F71A-10EDDC36C368}"/>
              </a:ext>
            </a:extLst>
          </p:cNvPr>
          <p:cNvPicPr>
            <a:picLocks noChangeAspect="1"/>
          </p:cNvPicPr>
          <p:nvPr/>
        </p:nvPicPr>
        <p:blipFill>
          <a:blip r:embed="rId2"/>
          <a:stretch>
            <a:fillRect/>
          </a:stretch>
        </p:blipFill>
        <p:spPr>
          <a:xfrm>
            <a:off x="1027992" y="1814287"/>
            <a:ext cx="10136015" cy="3229426"/>
          </a:xfrm>
          <a:prstGeom prst="rect">
            <a:avLst/>
          </a:prstGeom>
        </p:spPr>
      </p:pic>
    </p:spTree>
    <p:extLst>
      <p:ext uri="{BB962C8B-B14F-4D97-AF65-F5344CB8AC3E}">
        <p14:creationId xmlns:p14="http://schemas.microsoft.com/office/powerpoint/2010/main" val="1362513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FA49E25-5546-0F27-523E-61595328BF0B}"/>
              </a:ext>
            </a:extLst>
          </p:cNvPr>
          <p:cNvPicPr>
            <a:picLocks noChangeAspect="1"/>
          </p:cNvPicPr>
          <p:nvPr/>
        </p:nvPicPr>
        <p:blipFill>
          <a:blip r:embed="rId2"/>
          <a:stretch>
            <a:fillRect/>
          </a:stretch>
        </p:blipFill>
        <p:spPr>
          <a:xfrm>
            <a:off x="3326177" y="199575"/>
            <a:ext cx="5539645" cy="1668847"/>
          </a:xfrm>
          <a:prstGeom prst="rect">
            <a:avLst/>
          </a:prstGeom>
        </p:spPr>
      </p:pic>
      <p:pic>
        <p:nvPicPr>
          <p:cNvPr id="5" name="Imagen 4">
            <a:extLst>
              <a:ext uri="{FF2B5EF4-FFF2-40B4-BE49-F238E27FC236}">
                <a16:creationId xmlns:a16="http://schemas.microsoft.com/office/drawing/2014/main" id="{87B044D5-8CF2-62AB-2897-E1D3423FABE1}"/>
              </a:ext>
            </a:extLst>
          </p:cNvPr>
          <p:cNvPicPr>
            <a:picLocks noChangeAspect="1"/>
          </p:cNvPicPr>
          <p:nvPr/>
        </p:nvPicPr>
        <p:blipFill>
          <a:blip r:embed="rId3"/>
          <a:stretch>
            <a:fillRect/>
          </a:stretch>
        </p:blipFill>
        <p:spPr>
          <a:xfrm>
            <a:off x="3923006" y="1948588"/>
            <a:ext cx="4345985" cy="4838387"/>
          </a:xfrm>
          <a:prstGeom prst="rect">
            <a:avLst/>
          </a:prstGeom>
        </p:spPr>
      </p:pic>
    </p:spTree>
    <p:extLst>
      <p:ext uri="{BB962C8B-B14F-4D97-AF65-F5344CB8AC3E}">
        <p14:creationId xmlns:p14="http://schemas.microsoft.com/office/powerpoint/2010/main" val="19425299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C1E1F7B-8C8E-4F26-4EC9-47BD2D0BDBB6}"/>
              </a:ext>
            </a:extLst>
          </p:cNvPr>
          <p:cNvPicPr>
            <a:picLocks noChangeAspect="1"/>
          </p:cNvPicPr>
          <p:nvPr/>
        </p:nvPicPr>
        <p:blipFill>
          <a:blip r:embed="rId2"/>
          <a:stretch>
            <a:fillRect/>
          </a:stretch>
        </p:blipFill>
        <p:spPr>
          <a:xfrm>
            <a:off x="3119022" y="513943"/>
            <a:ext cx="5953956" cy="5830114"/>
          </a:xfrm>
          <a:prstGeom prst="rect">
            <a:avLst/>
          </a:prstGeom>
        </p:spPr>
      </p:pic>
    </p:spTree>
    <p:extLst>
      <p:ext uri="{BB962C8B-B14F-4D97-AF65-F5344CB8AC3E}">
        <p14:creationId xmlns:p14="http://schemas.microsoft.com/office/powerpoint/2010/main" val="35288240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F1231B2-ED10-1522-2D06-AFCEBC3137C9}"/>
              </a:ext>
            </a:extLst>
          </p:cNvPr>
          <p:cNvPicPr>
            <a:picLocks noChangeAspect="1"/>
          </p:cNvPicPr>
          <p:nvPr/>
        </p:nvPicPr>
        <p:blipFill>
          <a:blip r:embed="rId2"/>
          <a:stretch>
            <a:fillRect/>
          </a:stretch>
        </p:blipFill>
        <p:spPr>
          <a:xfrm>
            <a:off x="1027992" y="1942892"/>
            <a:ext cx="10136015" cy="2972215"/>
          </a:xfrm>
          <a:prstGeom prst="rect">
            <a:avLst/>
          </a:prstGeom>
        </p:spPr>
      </p:pic>
    </p:spTree>
    <p:extLst>
      <p:ext uri="{BB962C8B-B14F-4D97-AF65-F5344CB8AC3E}">
        <p14:creationId xmlns:p14="http://schemas.microsoft.com/office/powerpoint/2010/main" val="9718307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D933B1-FE63-7D65-28ED-DD31DB0D4AF8}"/>
              </a:ext>
            </a:extLst>
          </p:cNvPr>
          <p:cNvSpPr>
            <a:spLocks noGrp="1"/>
          </p:cNvSpPr>
          <p:nvPr>
            <p:ph type="title"/>
          </p:nvPr>
        </p:nvSpPr>
        <p:spPr/>
        <p:txBody>
          <a:bodyPr/>
          <a:lstStyle/>
          <a:p>
            <a:r>
              <a:rPr lang="es-ES" b="1" dirty="0"/>
              <a:t>Predicción de Ventas con Machine </a:t>
            </a:r>
            <a:r>
              <a:rPr lang="es-ES" b="1" dirty="0" err="1"/>
              <a:t>Learning</a:t>
            </a:r>
            <a:endParaRPr lang="en-US" dirty="0"/>
          </a:p>
        </p:txBody>
      </p:sp>
      <p:sp>
        <p:nvSpPr>
          <p:cNvPr id="3" name="Marcador de contenido 2">
            <a:extLst>
              <a:ext uri="{FF2B5EF4-FFF2-40B4-BE49-F238E27FC236}">
                <a16:creationId xmlns:a16="http://schemas.microsoft.com/office/drawing/2014/main" id="{31412341-F7F8-6709-3C40-4EC78C84DBD8}"/>
              </a:ext>
            </a:extLst>
          </p:cNvPr>
          <p:cNvSpPr>
            <a:spLocks noGrp="1"/>
          </p:cNvSpPr>
          <p:nvPr>
            <p:ph idx="1"/>
          </p:nvPr>
        </p:nvSpPr>
        <p:spPr/>
        <p:txBody>
          <a:bodyPr/>
          <a:lstStyle/>
          <a:p>
            <a:pPr algn="just"/>
            <a:r>
              <a:rPr lang="es-ES" b="1" dirty="0"/>
              <a:t>Predicciones Futuros</a:t>
            </a:r>
            <a:r>
              <a:rPr lang="es-ES" dirty="0"/>
              <a:t>: Las predicciones de ventas para los próximos meses se presentaron en forma de gráficos de líneas comparativos entre los datos reales y las predicciones del modelo.</a:t>
            </a:r>
          </a:p>
          <a:p>
            <a:endParaRPr lang="en-US" dirty="0"/>
          </a:p>
        </p:txBody>
      </p:sp>
    </p:spTree>
    <p:extLst>
      <p:ext uri="{BB962C8B-B14F-4D97-AF65-F5344CB8AC3E}">
        <p14:creationId xmlns:p14="http://schemas.microsoft.com/office/powerpoint/2010/main" val="10778279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A28E432-2C61-88F0-61C1-188D2F57C093}"/>
              </a:ext>
            </a:extLst>
          </p:cNvPr>
          <p:cNvPicPr>
            <a:picLocks noChangeAspect="1"/>
          </p:cNvPicPr>
          <p:nvPr/>
        </p:nvPicPr>
        <p:blipFill>
          <a:blip r:embed="rId2"/>
          <a:stretch>
            <a:fillRect/>
          </a:stretch>
        </p:blipFill>
        <p:spPr>
          <a:xfrm>
            <a:off x="856519" y="1819050"/>
            <a:ext cx="10478962" cy="3219899"/>
          </a:xfrm>
          <a:prstGeom prst="rect">
            <a:avLst/>
          </a:prstGeom>
        </p:spPr>
      </p:pic>
    </p:spTree>
    <p:extLst>
      <p:ext uri="{BB962C8B-B14F-4D97-AF65-F5344CB8AC3E}">
        <p14:creationId xmlns:p14="http://schemas.microsoft.com/office/powerpoint/2010/main" val="36580414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2B77D1-1F71-D2A2-9242-09A660C595C3}"/>
              </a:ext>
            </a:extLst>
          </p:cNvPr>
          <p:cNvSpPr>
            <a:spLocks noGrp="1"/>
          </p:cNvSpPr>
          <p:nvPr>
            <p:ph type="title"/>
          </p:nvPr>
        </p:nvSpPr>
        <p:spPr/>
        <p:txBody>
          <a:bodyPr/>
          <a:lstStyle/>
          <a:p>
            <a:r>
              <a:rPr lang="en-US" b="1" dirty="0" err="1"/>
              <a:t>Conclusiones</a:t>
            </a:r>
            <a:r>
              <a:rPr lang="en-US" b="1" dirty="0"/>
              <a:t> y </a:t>
            </a:r>
            <a:r>
              <a:rPr lang="en-US" b="1" dirty="0" err="1"/>
              <a:t>Recomendaciones</a:t>
            </a:r>
            <a:endParaRPr lang="en-US" b="1" dirty="0"/>
          </a:p>
        </p:txBody>
      </p:sp>
      <p:sp>
        <p:nvSpPr>
          <p:cNvPr id="3" name="Marcador de contenido 2">
            <a:extLst>
              <a:ext uri="{FF2B5EF4-FFF2-40B4-BE49-F238E27FC236}">
                <a16:creationId xmlns:a16="http://schemas.microsoft.com/office/drawing/2014/main" id="{F2BB2682-D755-F466-03A1-D26A9E77493A}"/>
              </a:ext>
            </a:extLst>
          </p:cNvPr>
          <p:cNvSpPr>
            <a:spLocks noGrp="1"/>
          </p:cNvSpPr>
          <p:nvPr>
            <p:ph idx="1"/>
          </p:nvPr>
        </p:nvSpPr>
        <p:spPr/>
        <p:txBody>
          <a:bodyPr>
            <a:normAutofit/>
          </a:bodyPr>
          <a:lstStyle/>
          <a:p>
            <a:pPr algn="just" fontAlgn="base"/>
            <a:r>
              <a:rPr lang="es-ES" sz="2000" b="1" dirty="0"/>
              <a:t>Resumen de los Hallazgos Clave</a:t>
            </a:r>
            <a:r>
              <a:rPr lang="es-ES" sz="2000" dirty="0"/>
              <a:t>:</a:t>
            </a:r>
          </a:p>
          <a:p>
            <a:pPr algn="just" fontAlgn="base">
              <a:buFontTx/>
              <a:buChar char="-"/>
            </a:pPr>
            <a:r>
              <a:rPr lang="es-ES" sz="2000" dirty="0"/>
              <a:t>El segmento 'BLEACH' es el que mayor ganancia en promedio ha generado y por una diferencia bastante grande en comparación con el resto de segmentos, a pesar de que el total de unidades vendidas no es tan diferente entre los segmentos 'BLEACH' y 'BAR’.</a:t>
            </a:r>
          </a:p>
          <a:p>
            <a:pPr algn="just" fontAlgn="base">
              <a:buFontTx/>
              <a:buChar char="-"/>
            </a:pPr>
            <a:r>
              <a:rPr lang="es-ES" sz="2000" dirty="0"/>
              <a:t>Las marcas 'BLANCATEL' y 'CLORALEX' son las que reportan las ganancias más sobresalientes, 'BLANCATEL' habiendo generado más ganancias en promedio a pesar de que 'CLORALEX' vendió más unidades.</a:t>
            </a:r>
          </a:p>
          <a:p>
            <a:pPr algn="just" fontAlgn="base">
              <a:buFontTx/>
              <a:buChar char="-"/>
            </a:pPr>
            <a:r>
              <a:rPr lang="es-ES" sz="2000" dirty="0"/>
              <a:t>La región 'TOTAL AUTOS SCANNING MEXICO' lidera las ventas totales por un margen muy grande, mientras que el resto de regiones se mantienen más o menos cerca del mismo nivel de ventas.</a:t>
            </a:r>
          </a:p>
          <a:p>
            <a:pPr algn="just" fontAlgn="base">
              <a:buFontTx/>
              <a:buChar char="-"/>
            </a:pPr>
            <a:r>
              <a:rPr lang="es-ES" sz="2000" dirty="0"/>
              <a:t>En Enero de 2023 se registró el punto máximo de ventas y en Julio de 2023 el punto mínimo.</a:t>
            </a:r>
          </a:p>
          <a:p>
            <a:pPr fontAlgn="base">
              <a:buFontTx/>
              <a:buChar char="-"/>
            </a:pPr>
            <a:endParaRPr lang="es-ES" sz="2000" dirty="0"/>
          </a:p>
        </p:txBody>
      </p:sp>
    </p:spTree>
    <p:extLst>
      <p:ext uri="{BB962C8B-B14F-4D97-AF65-F5344CB8AC3E}">
        <p14:creationId xmlns:p14="http://schemas.microsoft.com/office/powerpoint/2010/main" val="17813852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888EF-A4C2-DBE4-2F6E-01AA043E8E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E3B382-6ED9-D0E6-CF54-80FA11E719A1}"/>
              </a:ext>
            </a:extLst>
          </p:cNvPr>
          <p:cNvSpPr>
            <a:spLocks noGrp="1"/>
          </p:cNvSpPr>
          <p:nvPr>
            <p:ph type="title"/>
          </p:nvPr>
        </p:nvSpPr>
        <p:spPr/>
        <p:txBody>
          <a:bodyPr/>
          <a:lstStyle/>
          <a:p>
            <a:r>
              <a:rPr lang="en-US" b="1" dirty="0" err="1"/>
              <a:t>Conclusiones</a:t>
            </a:r>
            <a:r>
              <a:rPr lang="en-US" b="1" dirty="0"/>
              <a:t> y </a:t>
            </a:r>
            <a:r>
              <a:rPr lang="en-US" b="1" dirty="0" err="1"/>
              <a:t>Recomendaciones</a:t>
            </a:r>
            <a:endParaRPr lang="en-US" b="1" dirty="0"/>
          </a:p>
        </p:txBody>
      </p:sp>
      <p:sp>
        <p:nvSpPr>
          <p:cNvPr id="3" name="Marcador de contenido 2">
            <a:extLst>
              <a:ext uri="{FF2B5EF4-FFF2-40B4-BE49-F238E27FC236}">
                <a16:creationId xmlns:a16="http://schemas.microsoft.com/office/drawing/2014/main" id="{0833917E-656B-3579-9371-8590AB06817C}"/>
              </a:ext>
            </a:extLst>
          </p:cNvPr>
          <p:cNvSpPr>
            <a:spLocks noGrp="1"/>
          </p:cNvSpPr>
          <p:nvPr>
            <p:ph idx="1"/>
          </p:nvPr>
        </p:nvSpPr>
        <p:spPr/>
        <p:txBody>
          <a:bodyPr>
            <a:normAutofit/>
          </a:bodyPr>
          <a:lstStyle/>
          <a:p>
            <a:pPr algn="just" fontAlgn="base"/>
            <a:r>
              <a:rPr lang="es-ES" sz="2000" b="1" dirty="0"/>
              <a:t>Resumen de los Hallazgos Clave</a:t>
            </a:r>
            <a:r>
              <a:rPr lang="es-ES" sz="2000" dirty="0"/>
              <a:t>:</a:t>
            </a:r>
          </a:p>
          <a:p>
            <a:pPr algn="just" fontAlgn="base">
              <a:buFontTx/>
              <a:buChar char="-"/>
            </a:pPr>
            <a:r>
              <a:rPr lang="es-ES" sz="2000" dirty="0"/>
              <a:t>La marca 'CLORALEX' lidera en volumen de ventas. De manera general todas las marcas siguen la misma tendencia a excepción de 'LA JAPONESA', la cual tuvo una caída importante, sin embargo cabe recalcar que no hay datos de ventas de esa marca después de Julio 2022 por lo que no se sabe si esta </a:t>
            </a:r>
            <a:r>
              <a:rPr lang="es-ES" sz="2000" dirty="0" err="1"/>
              <a:t>dismunición</a:t>
            </a:r>
            <a:r>
              <a:rPr lang="es-ES" sz="2000" dirty="0"/>
              <a:t> fue porque se descontinuó o por otras razones.</a:t>
            </a:r>
          </a:p>
          <a:p>
            <a:pPr algn="just" fontAlgn="base">
              <a:buFontTx/>
              <a:buChar char="-"/>
            </a:pPr>
            <a:r>
              <a:rPr lang="es-ES" sz="2000" dirty="0"/>
              <a:t>Existe una relación no lineal entre las ventas totales y las unidades vendidas y por lo tanto descartamos correlaciones significativas entre estas variables.</a:t>
            </a:r>
          </a:p>
          <a:p>
            <a:pPr algn="just" fontAlgn="base">
              <a:buFontTx/>
              <a:buChar char="-"/>
            </a:pPr>
            <a:r>
              <a:rPr lang="es-ES" sz="2000" dirty="0"/>
              <a:t>'TOTAL AUTOS SCANNING MEXICO’ es la región con el mayor rendimiento en ambos años, seguida de 'TOTAL AUTOS AREA 2'.</a:t>
            </a:r>
            <a:endParaRPr lang="en-US" sz="2000" dirty="0"/>
          </a:p>
        </p:txBody>
      </p:sp>
    </p:spTree>
    <p:extLst>
      <p:ext uri="{BB962C8B-B14F-4D97-AF65-F5344CB8AC3E}">
        <p14:creationId xmlns:p14="http://schemas.microsoft.com/office/powerpoint/2010/main" val="5666940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E7C27-6435-CE31-EAB9-D3A8433AEE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A47808-DD07-BBA4-9F7F-2FEA3EC5D233}"/>
              </a:ext>
            </a:extLst>
          </p:cNvPr>
          <p:cNvSpPr>
            <a:spLocks noGrp="1"/>
          </p:cNvSpPr>
          <p:nvPr>
            <p:ph type="title"/>
          </p:nvPr>
        </p:nvSpPr>
        <p:spPr/>
        <p:txBody>
          <a:bodyPr/>
          <a:lstStyle/>
          <a:p>
            <a:r>
              <a:rPr lang="en-US" b="1" dirty="0" err="1"/>
              <a:t>Conclusiones</a:t>
            </a:r>
            <a:r>
              <a:rPr lang="en-US" b="1" dirty="0"/>
              <a:t> y </a:t>
            </a:r>
            <a:r>
              <a:rPr lang="en-US" b="1" dirty="0" err="1"/>
              <a:t>Recomendaciones</a:t>
            </a:r>
            <a:endParaRPr lang="en-US" b="1" dirty="0"/>
          </a:p>
        </p:txBody>
      </p:sp>
      <p:sp>
        <p:nvSpPr>
          <p:cNvPr id="3" name="Marcador de contenido 2">
            <a:extLst>
              <a:ext uri="{FF2B5EF4-FFF2-40B4-BE49-F238E27FC236}">
                <a16:creationId xmlns:a16="http://schemas.microsoft.com/office/drawing/2014/main" id="{96286197-361B-A70E-0769-4EE20664E3F9}"/>
              </a:ext>
            </a:extLst>
          </p:cNvPr>
          <p:cNvSpPr>
            <a:spLocks noGrp="1"/>
          </p:cNvSpPr>
          <p:nvPr>
            <p:ph idx="1"/>
          </p:nvPr>
        </p:nvSpPr>
        <p:spPr/>
        <p:txBody>
          <a:bodyPr/>
          <a:lstStyle/>
          <a:p>
            <a:pPr algn="just" fontAlgn="base"/>
            <a:r>
              <a:rPr lang="es-ES" b="1" dirty="0"/>
              <a:t>Impacto del Análisis en la Estrategia Empresarial</a:t>
            </a:r>
            <a:r>
              <a:rPr lang="es-ES" dirty="0"/>
              <a:t>: los </a:t>
            </a:r>
            <a:r>
              <a:rPr lang="es-ES" dirty="0" err="1"/>
              <a:t>insights</a:t>
            </a:r>
            <a:r>
              <a:rPr lang="es-ES" dirty="0"/>
              <a:t> obtenidos permiten a la empresa tomar decisiones sobre </a:t>
            </a:r>
            <a:r>
              <a:rPr lang="es-ES" dirty="0" err="1"/>
              <a:t>qu</a:t>
            </a:r>
            <a:r>
              <a:rPr lang="en-US" dirty="0"/>
              <a:t>é </a:t>
            </a:r>
            <a:r>
              <a:rPr lang="en-US" dirty="0" err="1"/>
              <a:t>productos</a:t>
            </a:r>
            <a:r>
              <a:rPr lang="en-US" dirty="0"/>
              <a:t> </a:t>
            </a:r>
            <a:r>
              <a:rPr lang="en-US" dirty="0" err="1"/>
              <a:t>debería</a:t>
            </a:r>
            <a:r>
              <a:rPr lang="en-US" dirty="0"/>
              <a:t> de </a:t>
            </a:r>
            <a:r>
              <a:rPr lang="en-US" dirty="0" err="1"/>
              <a:t>promocionar</a:t>
            </a:r>
            <a:r>
              <a:rPr lang="en-US" dirty="0"/>
              <a:t> </a:t>
            </a:r>
            <a:r>
              <a:rPr lang="en-US" dirty="0" err="1"/>
              <a:t>más</a:t>
            </a:r>
            <a:r>
              <a:rPr lang="en-US" dirty="0"/>
              <a:t>, </a:t>
            </a:r>
            <a:r>
              <a:rPr lang="en-US" dirty="0" err="1"/>
              <a:t>cuáles</a:t>
            </a:r>
            <a:r>
              <a:rPr lang="en-US" dirty="0"/>
              <a:t> </a:t>
            </a:r>
            <a:r>
              <a:rPr lang="en-US" dirty="0" err="1"/>
              <a:t>priorizar</a:t>
            </a:r>
            <a:r>
              <a:rPr lang="en-US" dirty="0"/>
              <a:t> o </a:t>
            </a:r>
            <a:r>
              <a:rPr lang="en-US" dirty="0" err="1"/>
              <a:t>en</a:t>
            </a:r>
            <a:r>
              <a:rPr lang="en-US" dirty="0"/>
              <a:t> </a:t>
            </a:r>
            <a:r>
              <a:rPr lang="en-US" dirty="0" err="1"/>
              <a:t>qué</a:t>
            </a:r>
            <a:r>
              <a:rPr lang="en-US" dirty="0"/>
              <a:t> </a:t>
            </a:r>
            <a:r>
              <a:rPr lang="en-US" dirty="0" err="1"/>
              <a:t>productos</a:t>
            </a:r>
            <a:r>
              <a:rPr lang="en-US" dirty="0"/>
              <a:t>, </a:t>
            </a:r>
            <a:r>
              <a:rPr lang="en-US" dirty="0" err="1"/>
              <a:t>segmentos</a:t>
            </a:r>
            <a:r>
              <a:rPr lang="en-US" dirty="0"/>
              <a:t> o regiones </a:t>
            </a:r>
            <a:r>
              <a:rPr lang="en-US" dirty="0" err="1"/>
              <a:t>puede</a:t>
            </a:r>
            <a:r>
              <a:rPr lang="en-US" dirty="0"/>
              <a:t> </a:t>
            </a:r>
            <a:r>
              <a:rPr lang="en-US" dirty="0" err="1"/>
              <a:t>enfocarse</a:t>
            </a:r>
            <a:r>
              <a:rPr lang="en-US" dirty="0"/>
              <a:t> para </a:t>
            </a:r>
            <a:r>
              <a:rPr lang="en-US" dirty="0" err="1"/>
              <a:t>tener</a:t>
            </a:r>
            <a:r>
              <a:rPr lang="en-US" dirty="0"/>
              <a:t> mayor </a:t>
            </a:r>
            <a:r>
              <a:rPr lang="en-US" dirty="0" err="1"/>
              <a:t>rebtabilidad</a:t>
            </a:r>
            <a:r>
              <a:rPr lang="en-US" dirty="0"/>
              <a:t>. También </a:t>
            </a:r>
            <a:r>
              <a:rPr lang="en-US" dirty="0" err="1"/>
              <a:t>puede</a:t>
            </a:r>
            <a:r>
              <a:rPr lang="en-US" dirty="0"/>
              <a:t> </a:t>
            </a:r>
            <a:r>
              <a:rPr lang="es-ES" dirty="0"/>
              <a:t>optimizar inventarios, producción y campañas, anticipando la demanda y reforzando ventas en periodos bajos a partir del análisis de la estacionalidad de las ventas. </a:t>
            </a:r>
            <a:br>
              <a:rPr lang="es-ES" dirty="0"/>
            </a:br>
            <a:r>
              <a:rPr lang="es-ES" dirty="0"/>
              <a:t>Incluso podría tomar decisiones acerca de los productos que representan perdidas significativas y reducirlos o eliminarlos completamente del inventario.</a:t>
            </a:r>
          </a:p>
          <a:p>
            <a:pPr marL="0" indent="0">
              <a:buNone/>
            </a:pPr>
            <a:endParaRPr lang="en-US" dirty="0"/>
          </a:p>
        </p:txBody>
      </p:sp>
    </p:spTree>
    <p:extLst>
      <p:ext uri="{BB962C8B-B14F-4D97-AF65-F5344CB8AC3E}">
        <p14:creationId xmlns:p14="http://schemas.microsoft.com/office/powerpoint/2010/main" val="24947624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34C79-03A7-B771-6FFA-1C1170C1D3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36E7C2-C0FC-F22B-E3EA-3D5EEB1BC0B7}"/>
              </a:ext>
            </a:extLst>
          </p:cNvPr>
          <p:cNvSpPr>
            <a:spLocks noGrp="1"/>
          </p:cNvSpPr>
          <p:nvPr>
            <p:ph type="title"/>
          </p:nvPr>
        </p:nvSpPr>
        <p:spPr/>
        <p:txBody>
          <a:bodyPr/>
          <a:lstStyle/>
          <a:p>
            <a:r>
              <a:rPr lang="en-US" b="1" dirty="0" err="1"/>
              <a:t>Conclusiones</a:t>
            </a:r>
            <a:r>
              <a:rPr lang="en-US" b="1" dirty="0"/>
              <a:t> y </a:t>
            </a:r>
            <a:r>
              <a:rPr lang="en-US" b="1" dirty="0" err="1"/>
              <a:t>Recomendaciones</a:t>
            </a:r>
            <a:endParaRPr lang="en-US" b="1" dirty="0"/>
          </a:p>
        </p:txBody>
      </p:sp>
      <p:sp>
        <p:nvSpPr>
          <p:cNvPr id="3" name="Marcador de contenido 2">
            <a:extLst>
              <a:ext uri="{FF2B5EF4-FFF2-40B4-BE49-F238E27FC236}">
                <a16:creationId xmlns:a16="http://schemas.microsoft.com/office/drawing/2014/main" id="{67921472-A102-6488-DC0C-7320DEDE137D}"/>
              </a:ext>
            </a:extLst>
          </p:cNvPr>
          <p:cNvSpPr>
            <a:spLocks noGrp="1"/>
          </p:cNvSpPr>
          <p:nvPr>
            <p:ph idx="1"/>
          </p:nvPr>
        </p:nvSpPr>
        <p:spPr/>
        <p:txBody>
          <a:bodyPr>
            <a:normAutofit fontScale="85000" lnSpcReduction="20000"/>
          </a:bodyPr>
          <a:lstStyle/>
          <a:p>
            <a:pPr algn="just"/>
            <a:r>
              <a:rPr lang="es-ES" b="1" dirty="0"/>
              <a:t>Recomendaciones</a:t>
            </a:r>
            <a:r>
              <a:rPr lang="es-ES" dirty="0"/>
              <a:t>: </a:t>
            </a:r>
          </a:p>
          <a:p>
            <a:pPr algn="just">
              <a:buFontTx/>
              <a:buChar char="-"/>
            </a:pPr>
            <a:r>
              <a:rPr lang="es-ES" dirty="0"/>
              <a:t>La compañía debería priorizar el segmento BLEACH, ya que muestra mayor rentabilidad por unidad, lo que sugiere una oportunidad para maximizar utilidades enfocando inversión y expansión en este segmento. </a:t>
            </a:r>
          </a:p>
          <a:p>
            <a:pPr algn="just">
              <a:buFontTx/>
              <a:buChar char="-"/>
            </a:pPr>
            <a:r>
              <a:rPr lang="es-ES" dirty="0"/>
              <a:t>En cuanto a marcas, se identifica una estrategia dual: CLORALEX debe mantenerse como motor de volumen y penetración de mercado, mientras que BLANCATEL puede posicionarse como una opción más rentable o premium, permitiendo equilibrar crecimiento y margen. </a:t>
            </a:r>
          </a:p>
          <a:p>
            <a:pPr algn="just">
              <a:buFontTx/>
              <a:buChar char="-"/>
            </a:pPr>
            <a:r>
              <a:rPr lang="es-ES" dirty="0"/>
              <a:t>La evidencia de estacionalidad (picos en enero y caídas en julio) permite optimizar inventarios, producción y campañas, anticipando la demanda y reforzando ventas en periodos bajos.</a:t>
            </a:r>
          </a:p>
          <a:p>
            <a:pPr algn="just">
              <a:buFontTx/>
              <a:buChar char="-"/>
            </a:pPr>
            <a:r>
              <a:rPr lang="es-ES" dirty="0"/>
              <a:t>Finalmente, el liderazgo consistente de ciertas regiones sugiere la oportunidad de replicar prácticas exitosas en otras zonas, impulsando un crecimiento más equilibrado.</a:t>
            </a:r>
          </a:p>
          <a:p>
            <a:pPr fontAlgn="base"/>
            <a:endParaRPr lang="en-US" dirty="0"/>
          </a:p>
        </p:txBody>
      </p:sp>
    </p:spTree>
    <p:extLst>
      <p:ext uri="{BB962C8B-B14F-4D97-AF65-F5344CB8AC3E}">
        <p14:creationId xmlns:p14="http://schemas.microsoft.com/office/powerpoint/2010/main" val="42293056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F5D70-6A0B-4AED-A913-48F88FDB2E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E7995B3-F7E2-293B-F257-C7CD257EA0DF}"/>
              </a:ext>
            </a:extLst>
          </p:cNvPr>
          <p:cNvSpPr>
            <a:spLocks noGrp="1"/>
          </p:cNvSpPr>
          <p:nvPr>
            <p:ph type="title"/>
          </p:nvPr>
        </p:nvSpPr>
        <p:spPr/>
        <p:txBody>
          <a:bodyPr/>
          <a:lstStyle/>
          <a:p>
            <a:r>
              <a:rPr lang="en-US" b="1" dirty="0" err="1"/>
              <a:t>Conclusiones</a:t>
            </a:r>
            <a:r>
              <a:rPr lang="en-US" b="1" dirty="0"/>
              <a:t> y </a:t>
            </a:r>
            <a:r>
              <a:rPr lang="en-US" b="1" dirty="0" err="1"/>
              <a:t>Recomendaciones</a:t>
            </a:r>
            <a:endParaRPr lang="en-US" b="1" dirty="0"/>
          </a:p>
        </p:txBody>
      </p:sp>
      <p:sp>
        <p:nvSpPr>
          <p:cNvPr id="3" name="Marcador de contenido 2">
            <a:extLst>
              <a:ext uri="{FF2B5EF4-FFF2-40B4-BE49-F238E27FC236}">
                <a16:creationId xmlns:a16="http://schemas.microsoft.com/office/drawing/2014/main" id="{5A51B7AC-BF07-3127-9ED6-773800A9A5BC}"/>
              </a:ext>
            </a:extLst>
          </p:cNvPr>
          <p:cNvSpPr>
            <a:spLocks noGrp="1"/>
          </p:cNvSpPr>
          <p:nvPr>
            <p:ph idx="1"/>
          </p:nvPr>
        </p:nvSpPr>
        <p:spPr/>
        <p:txBody>
          <a:bodyPr>
            <a:normAutofit fontScale="70000" lnSpcReduction="20000"/>
          </a:bodyPr>
          <a:lstStyle/>
          <a:p>
            <a:pPr algn="just" fontAlgn="base"/>
            <a:r>
              <a:rPr lang="es-ES" b="1" dirty="0"/>
              <a:t>Futuras Mejoras</a:t>
            </a:r>
            <a:r>
              <a:rPr lang="es-ES" dirty="0"/>
              <a:t>: </a:t>
            </a:r>
          </a:p>
          <a:p>
            <a:pPr algn="just" fontAlgn="base">
              <a:buFontTx/>
              <a:buChar char="-"/>
            </a:pPr>
            <a:r>
              <a:rPr lang="es-ES" dirty="0"/>
              <a:t>La empresa debe comenzar por fortalecer la calidad y consistencia de sus datos, corrigiendo valores faltantes y validando variables agregadas, para asegurar decisiones confiables.</a:t>
            </a:r>
          </a:p>
          <a:p>
            <a:pPr algn="just" fontAlgn="base">
              <a:buFontTx/>
              <a:buChar char="-"/>
            </a:pPr>
            <a:r>
              <a:rPr lang="es-ES" dirty="0"/>
              <a:t>Es clave evolucionar hacia un enfoque basado en rentabilidad, incorporando métricas como margen por producto, marca y región, en lugar de centrarse únicamente en volumen de ventas.</a:t>
            </a:r>
          </a:p>
          <a:p>
            <a:pPr algn="just" fontAlgn="base">
              <a:buFontTx/>
              <a:buChar char="-"/>
            </a:pPr>
            <a:r>
              <a:rPr lang="es-ES" dirty="0"/>
              <a:t>A partir de la estacionalidad identificada, se recomienda implementar modelos predictivos de demanda, lo que permitirá optimizar la planeación de inventarios, producción y logística.</a:t>
            </a:r>
          </a:p>
          <a:p>
            <a:pPr algn="just" fontAlgn="base">
              <a:buFontTx/>
              <a:buChar char="-"/>
            </a:pPr>
            <a:r>
              <a:rPr lang="es-ES" dirty="0"/>
              <a:t>Dado que la relación entre ventas y unidades no es lineal, la compañía debería avanzar en la optimización de precios y promociones, buscando maximizar ingresos y no solo aumentar volumen.</a:t>
            </a:r>
          </a:p>
          <a:p>
            <a:pPr algn="just" fontAlgn="base">
              <a:buFontTx/>
              <a:buChar char="-"/>
            </a:pPr>
            <a:r>
              <a:rPr lang="es-ES" dirty="0"/>
              <a:t>También es importante profundizar en la segmentación (clientes, canales y regiones) para diseñar estrategias más específicas y efectivas, así como mejorar el análisis regional para asignar mejor los recursos comerciales.</a:t>
            </a:r>
            <a:endParaRPr lang="en-US" dirty="0"/>
          </a:p>
        </p:txBody>
      </p:sp>
    </p:spTree>
    <p:extLst>
      <p:ext uri="{BB962C8B-B14F-4D97-AF65-F5344CB8AC3E}">
        <p14:creationId xmlns:p14="http://schemas.microsoft.com/office/powerpoint/2010/main" val="1509998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TotalTime>
  <Words>1358</Words>
  <Application>Microsoft Office PowerPoint</Application>
  <PresentationFormat>Panorámica</PresentationFormat>
  <Paragraphs>76</Paragraphs>
  <Slides>50</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50</vt:i4>
      </vt:variant>
    </vt:vector>
  </HeadingPairs>
  <TitlesOfParts>
    <vt:vector size="54" baseType="lpstr">
      <vt:lpstr>Arial</vt:lpstr>
      <vt:lpstr>Calibri</vt:lpstr>
      <vt:lpstr>Calibri Light</vt:lpstr>
      <vt:lpstr>Tema de Office</vt:lpstr>
      <vt:lpstr>Proyecto de Empresa Aliada </vt:lpstr>
      <vt:lpstr>Introducción</vt:lpstr>
      <vt:lpstr>Introducción</vt:lpstr>
      <vt:lpstr>Limpieza y Transformación de Datos con Python</vt:lpstr>
      <vt:lpstr>Presentación de PowerPoint</vt:lpstr>
      <vt:lpstr>Presentación de PowerPoint</vt:lpstr>
      <vt:lpstr>Limpieza y Transformación de Datos con Python</vt:lpstr>
      <vt:lpstr>Análisis Exploratorio de Datos (EDA) y Visualizaciones</vt:lpstr>
      <vt:lpstr>Presentación de PowerPoint</vt:lpstr>
      <vt:lpstr>Presentación de PowerPoint</vt:lpstr>
      <vt:lpstr>Análisis Exploratorio de Datos (EDA) y Visualizaciones</vt:lpstr>
      <vt:lpstr>Presentación de PowerPoint</vt:lpstr>
      <vt:lpstr>Presentación de PowerPoint</vt:lpstr>
      <vt:lpstr>Presentación de PowerPoint</vt:lpstr>
      <vt:lpstr>Análisis Exploratorio de Datos (EDA) y Visualizaciones</vt:lpstr>
      <vt:lpstr>Presentación de PowerPoint</vt:lpstr>
      <vt:lpstr>Presentación de PowerPoint</vt:lpstr>
      <vt:lpstr>Segmentación de Productos o Regiones con Clustering</vt:lpstr>
      <vt:lpstr>Segmentación de Productos o Regiones con Clustering</vt:lpstr>
      <vt:lpstr>Segmentación de Productos o Regiones con Clustering</vt:lpstr>
      <vt:lpstr>Presentación de PowerPoint</vt:lpstr>
      <vt:lpstr>Segmentación de Productos o Regiones con Clustering</vt:lpstr>
      <vt:lpstr>Presentación de PowerPoint</vt:lpstr>
      <vt:lpstr> Análisis de Datos con SQL</vt:lpstr>
      <vt:lpstr>Presentación de PowerPoint</vt:lpstr>
      <vt:lpstr>Presentación de PowerPoint</vt:lpstr>
      <vt:lpstr> Análisis de Datos con SQL</vt:lpstr>
      <vt:lpstr>Presentación de PowerPoint</vt:lpstr>
      <vt:lpstr>Presentación de PowerPoint</vt:lpstr>
      <vt:lpstr>Presentación de PowerPoint</vt:lpstr>
      <vt:lpstr>Creación de un Dashboard en PowerBI</vt:lpstr>
      <vt:lpstr>Presentación de PowerPoint</vt:lpstr>
      <vt:lpstr>Presentación de PowerPoint</vt:lpstr>
      <vt:lpstr>Presentación de PowerPoint</vt:lpstr>
      <vt:lpstr>Predicción de Ventas con Machine Learning</vt:lpstr>
      <vt:lpstr>Presentación de PowerPoint</vt:lpstr>
      <vt:lpstr>Presentación de PowerPoint</vt:lpstr>
      <vt:lpstr>Presentación de PowerPoint</vt:lpstr>
      <vt:lpstr>Predicción de Ventas con Machine Learning</vt:lpstr>
      <vt:lpstr>Presentación de PowerPoint</vt:lpstr>
      <vt:lpstr>Presentación de PowerPoint</vt:lpstr>
      <vt:lpstr>Presentación de PowerPoint</vt:lpstr>
      <vt:lpstr>Presentación de PowerPoint</vt:lpstr>
      <vt:lpstr>Predicción de Ventas con Machine Learning</vt:lpstr>
      <vt:lpstr>Presentación de PowerPoint</vt:lpstr>
      <vt:lpstr>Conclusiones y Recomendaciones</vt:lpstr>
      <vt:lpstr>Conclusiones y Recomendaciones</vt:lpstr>
      <vt:lpstr>Conclusiones y Recomendaciones</vt:lpstr>
      <vt:lpstr>Conclusiones y Recomendaciones</vt:lpstr>
      <vt:lpstr>Conclusiones y Recomendaciones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Emanuel Vargas</dc:creator>
  <cp:lastModifiedBy>Emanuel Vargas</cp:lastModifiedBy>
  <cp:revision>11</cp:revision>
  <dcterms:created xsi:type="dcterms:W3CDTF">2026-04-27T21:47:10Z</dcterms:created>
  <dcterms:modified xsi:type="dcterms:W3CDTF">2026-04-30T02:10:02Z</dcterms:modified>
</cp:coreProperties>
</file>